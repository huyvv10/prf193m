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2"/>
  </p:notesMasterIdLst>
  <p:handoutMasterIdLst>
    <p:handoutMasterId r:id="rId73"/>
  </p:handoutMasterIdLst>
  <p:sldIdLst>
    <p:sldId id="256" r:id="rId2"/>
    <p:sldId id="440" r:id="rId3"/>
    <p:sldId id="441" r:id="rId4"/>
    <p:sldId id="442" r:id="rId5"/>
    <p:sldId id="443" r:id="rId6"/>
    <p:sldId id="444" r:id="rId7"/>
    <p:sldId id="445" r:id="rId8"/>
    <p:sldId id="446" r:id="rId9"/>
    <p:sldId id="447" r:id="rId10"/>
    <p:sldId id="448" r:id="rId11"/>
    <p:sldId id="449" r:id="rId12"/>
    <p:sldId id="450" r:id="rId13"/>
    <p:sldId id="451" r:id="rId14"/>
    <p:sldId id="452" r:id="rId15"/>
    <p:sldId id="453" r:id="rId16"/>
    <p:sldId id="454" r:id="rId17"/>
    <p:sldId id="455" r:id="rId18"/>
    <p:sldId id="456" r:id="rId19"/>
    <p:sldId id="493" r:id="rId20"/>
    <p:sldId id="494" r:id="rId21"/>
    <p:sldId id="495" r:id="rId22"/>
    <p:sldId id="458" r:id="rId23"/>
    <p:sldId id="459" r:id="rId24"/>
    <p:sldId id="460" r:id="rId25"/>
    <p:sldId id="461" r:id="rId26"/>
    <p:sldId id="462" r:id="rId27"/>
    <p:sldId id="463" r:id="rId28"/>
    <p:sldId id="464" r:id="rId29"/>
    <p:sldId id="465" r:id="rId30"/>
    <p:sldId id="466" r:id="rId31"/>
    <p:sldId id="467" r:id="rId32"/>
    <p:sldId id="468" r:id="rId33"/>
    <p:sldId id="469" r:id="rId34"/>
    <p:sldId id="470" r:id="rId35"/>
    <p:sldId id="471" r:id="rId36"/>
    <p:sldId id="472" r:id="rId37"/>
    <p:sldId id="473" r:id="rId38"/>
    <p:sldId id="476" r:id="rId39"/>
    <p:sldId id="477" r:id="rId40"/>
    <p:sldId id="496" r:id="rId41"/>
    <p:sldId id="497" r:id="rId42"/>
    <p:sldId id="498" r:id="rId43"/>
    <p:sldId id="499" r:id="rId44"/>
    <p:sldId id="500" r:id="rId45"/>
    <p:sldId id="488" r:id="rId46"/>
    <p:sldId id="484" r:id="rId47"/>
    <p:sldId id="501" r:id="rId48"/>
    <p:sldId id="502" r:id="rId49"/>
    <p:sldId id="489" r:id="rId50"/>
    <p:sldId id="490" r:id="rId51"/>
    <p:sldId id="492" r:id="rId52"/>
    <p:sldId id="257" r:id="rId53"/>
    <p:sldId id="258" r:id="rId54"/>
    <p:sldId id="259" r:id="rId55"/>
    <p:sldId id="260" r:id="rId56"/>
    <p:sldId id="261" r:id="rId57"/>
    <p:sldId id="262" r:id="rId58"/>
    <p:sldId id="263" r:id="rId59"/>
    <p:sldId id="264" r:id="rId60"/>
    <p:sldId id="265" r:id="rId61"/>
    <p:sldId id="266" r:id="rId62"/>
    <p:sldId id="267" r:id="rId63"/>
    <p:sldId id="271" r:id="rId64"/>
    <p:sldId id="272" r:id="rId65"/>
    <p:sldId id="268" r:id="rId66"/>
    <p:sldId id="273" r:id="rId67"/>
    <p:sldId id="503" r:id="rId68"/>
    <p:sldId id="504" r:id="rId69"/>
    <p:sldId id="274" r:id="rId70"/>
    <p:sldId id="275" r:id="rId7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hạm Ngọc Thọ" initials="PNT" lastIdx="1" clrIdx="0">
    <p:extLst>
      <p:ext uri="{19B8F6BF-5375-455C-9EA6-DF929625EA0E}">
        <p15:presenceInfo xmlns:p15="http://schemas.microsoft.com/office/powerpoint/2012/main" userId="S::thopn.BK.CCNA.insFPT@student.bkacad.edu.vn::29db4276-bc41-4dbe-bd3a-5a8c89f9caff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00"/>
    <a:srgbClr val="FF9900"/>
    <a:srgbClr val="0000CC"/>
    <a:srgbClr val="B31996"/>
    <a:srgbClr val="0000FF"/>
    <a:srgbClr val="FF0066"/>
    <a:srgbClr val="FFFF99"/>
    <a:srgbClr val="BFBFBF"/>
    <a:srgbClr val="F4AF80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785" autoAdjust="0"/>
    <p:restoredTop sz="95226" autoAdjust="0"/>
  </p:normalViewPr>
  <p:slideViewPr>
    <p:cSldViewPr snapToGrid="0">
      <p:cViewPr varScale="1">
        <p:scale>
          <a:sx n="93" d="100"/>
          <a:sy n="93" d="100"/>
        </p:scale>
        <p:origin x="63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2" d="100"/>
          <a:sy n="62" d="100"/>
        </p:scale>
        <p:origin x="3154" y="7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commentAuthors" Target="commentAuthor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handoutMaster" Target="handoutMasters/handoutMaster1.xml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49DFF5-E44F-48DD-8FAD-EF15CFF7F474}" type="datetimeFigureOut">
              <a:rPr lang="en-US" smtClean="0"/>
              <a:t>10/15/2025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431253-AA71-4F4F-9BF6-D6DC574A3AA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68054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17A13E-60FF-453F-B712-D9BBD0C85FA1}" type="datetimeFigureOut">
              <a:rPr lang="en-US" smtClean="0"/>
              <a:t>10/15/2025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46C0E5-5FD0-48D4-A8DC-24389342924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129828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 userDrawn="1"/>
        </p:nvSpPr>
        <p:spPr>
          <a:xfrm>
            <a:off x="0" y="6461294"/>
            <a:ext cx="12192000" cy="403934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A6BC0A3-5664-48A6-A974-907B2A60A89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2241458"/>
            <a:ext cx="9202270" cy="1518779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anchor="ctr">
            <a:normAutofit/>
          </a:bodyPr>
          <a:lstStyle>
            <a:lvl1pPr algn="ctr">
              <a:defRPr/>
            </a:lvl1pPr>
          </a:lstStyle>
          <a:p>
            <a:r>
              <a:rPr lang="en-US" altLang="ko-KR" sz="4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44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Topic …</a:t>
            </a:r>
            <a:endParaRPr lang="en-US" sz="4400" dirty="0">
              <a:solidFill>
                <a:schemeClr val="accent2"/>
              </a:solidFill>
            </a:endParaRPr>
          </a:p>
        </p:txBody>
      </p:sp>
      <p:pic>
        <p:nvPicPr>
          <p:cNvPr id="5" name="Picture 1">
            <a:extLst>
              <a:ext uri="{FF2B5EF4-FFF2-40B4-BE49-F238E27FC236}">
                <a16:creationId xmlns:a16="http://schemas.microsoft.com/office/drawing/2014/main" id="{51358EBF-761B-4F60-95FB-62FE9F2043E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/>
          <a:srcRect l="32897" b="-14369"/>
          <a:stretch/>
        </p:blipFill>
        <p:spPr bwMode="auto">
          <a:xfrm>
            <a:off x="0" y="26362"/>
            <a:ext cx="1616364" cy="6581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209551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 userDrawn="1"/>
        </p:nvSpPr>
        <p:spPr>
          <a:xfrm>
            <a:off x="0" y="6461294"/>
            <a:ext cx="12192000" cy="403934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4236" y="725592"/>
            <a:ext cx="11085946" cy="468797"/>
          </a:xfrm>
          <a:solidFill>
            <a:schemeClr val="bg1"/>
          </a:solidFill>
        </p:spPr>
        <p:txBody>
          <a:bodyPr>
            <a:noAutofit/>
          </a:bodyPr>
          <a:lstStyle>
            <a:lvl1pPr>
              <a:defRPr sz="3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4236" y="1319178"/>
            <a:ext cx="11085946" cy="5122712"/>
          </a:xfrm>
        </p:spPr>
        <p:txBody>
          <a:bodyPr/>
          <a:lstStyle>
            <a:lvl1pPr marL="396875" indent="-396875" algn="just">
              <a:lnSpc>
                <a:spcPct val="130000"/>
              </a:lnSpc>
              <a:buClr>
                <a:schemeClr val="accent2">
                  <a:lumMod val="50000"/>
                </a:schemeClr>
              </a:buClr>
              <a:buSzPct val="50000"/>
              <a:buFont typeface="Wingdings" panose="05000000000000000000" pitchFamily="2" charset="2"/>
              <a:buChar char="u"/>
              <a:defRPr sz="2400"/>
            </a:lvl1pPr>
            <a:lvl2pPr algn="just">
              <a:lnSpc>
                <a:spcPct val="130000"/>
              </a:lnSpc>
              <a:defRPr sz="2200"/>
            </a:lvl2pPr>
            <a:lvl3pPr algn="just">
              <a:lnSpc>
                <a:spcPct val="130000"/>
              </a:lnSpc>
              <a:defRPr/>
            </a:lvl3pPr>
            <a:lvl4pPr algn="just">
              <a:lnSpc>
                <a:spcPct val="130000"/>
              </a:lnSpc>
              <a:defRPr/>
            </a:lvl4pPr>
            <a:lvl5pPr algn="just">
              <a:lnSpc>
                <a:spcPct val="130000"/>
              </a:lnSpc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86060" y="6480700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149FD-98BB-4821-915B-09C9BFE4B72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 userDrawn="1"/>
        </p:nvSpPr>
        <p:spPr>
          <a:xfrm>
            <a:off x="1" y="600803"/>
            <a:ext cx="207390" cy="973473"/>
          </a:xfrm>
          <a:prstGeom prst="rect">
            <a:avLst/>
          </a:prstGeom>
          <a:solidFill>
            <a:srgbClr val="F4AF80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80699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7256740-3DC7-40BE-968F-29F94186F3AD}" type="datetime1">
              <a:rPr lang="vi-VN" smtClean="0"/>
              <a:t>15/10/2025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C364EEF-9B64-450E-9849-8134123DDB58}"/>
              </a:ext>
            </a:extLst>
          </p:cNvPr>
          <p:cNvSpPr/>
          <p:nvPr userDrawn="1"/>
        </p:nvSpPr>
        <p:spPr>
          <a:xfrm>
            <a:off x="7943272" y="-3606"/>
            <a:ext cx="4247572" cy="304800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6">
                    <a:lumMod val="5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Programming</a:t>
            </a:r>
            <a:r>
              <a:rPr lang="en-US" b="1" cap="none" spc="0" baseline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6">
                    <a:lumMod val="5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Fundamentals using C</a:t>
            </a:r>
            <a:endParaRPr lang="en-US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6">
                  <a:lumMod val="50000"/>
                </a:schemeClr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pic>
        <p:nvPicPr>
          <p:cNvPr id="10" name="Picture 1">
            <a:extLst>
              <a:ext uri="{FF2B5EF4-FFF2-40B4-BE49-F238E27FC236}">
                <a16:creationId xmlns:a16="http://schemas.microsoft.com/office/drawing/2014/main" id="{9190F370-6979-49CC-BDAC-52AE5DC84D4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/>
          <a:srcRect l="32897" b="-14369"/>
          <a:stretch/>
        </p:blipFill>
        <p:spPr bwMode="auto">
          <a:xfrm>
            <a:off x="0" y="26362"/>
            <a:ext cx="1616364" cy="6581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362227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48059-8CC8-4876-B763-1BEA3FA0F124}" type="datetime1">
              <a:rPr lang="vi-VN" smtClean="0"/>
              <a:t>15/10/2025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Course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91216-F62E-4FB8-B968-3BF60F6CBEA2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Picture 4" descr="Welcome to the World of Internet Learning">
            <a:extLst>
              <a:ext uri="{FF2B5EF4-FFF2-40B4-BE49-F238E27FC236}">
                <a16:creationId xmlns:a16="http://schemas.microsoft.com/office/drawing/2014/main" id="{F30F1745-FEAA-49C5-8EFB-7E8028C3541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0549" y="0"/>
            <a:ext cx="932141" cy="7296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080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3963C-A6AA-4DDF-B85B-BE123D65B285}" type="datetime1">
              <a:rPr lang="vi-VN" smtClean="0"/>
              <a:t>15/10/2025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Course Introduction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91216-F62E-4FB8-B968-3BF60F6CBEA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1125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11605-F8CD-44C6-A79B-BEBA9358497C}" type="datetime1">
              <a:rPr lang="vi-VN" smtClean="0"/>
              <a:t>15/10/2025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Course Introduction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91216-F62E-4FB8-B968-3BF60F6CBEA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054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3410B-B6B3-4AF4-A9DB-DC0340309754}" type="datetime1">
              <a:rPr lang="vi-VN" smtClean="0"/>
              <a:t>15/10/2025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Course Introduction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91216-F62E-4FB8-B968-3BF60F6CBEA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3130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606E5-9CA3-4971-89BF-F965F9043882}" type="datetime1">
              <a:rPr lang="vi-VN" smtClean="0"/>
              <a:t>15/10/2025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Course Introduction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91216-F62E-4FB8-B968-3BF60F6CBEA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0444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316FA-E3CF-4C73-A815-C13A824B339A}" type="datetime1">
              <a:rPr lang="vi-VN" smtClean="0"/>
              <a:t>15/10/2025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Course Introduction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91216-F62E-4FB8-B968-3BF60F6CBEA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10758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6D87B-52FF-4B7F-A538-F746ED572E26}" type="datetime1">
              <a:rPr lang="vi-VN" smtClean="0"/>
              <a:t>15/10/2025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Course Introduction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91216-F62E-4FB8-B968-3BF60F6CBEA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1177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C2434-2AF2-4BF2-BD0B-95CBD5EB0128}" type="datetime1">
              <a:rPr lang="vi-VN" smtClean="0"/>
              <a:t>15/10/2025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Course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91216-F62E-4FB8-B968-3BF60F6CBEA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04434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76082-5D4E-4969-8016-69F376C871AD}" type="datetime1">
              <a:rPr lang="vi-VN" smtClean="0"/>
              <a:t>15/10/2025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Course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91216-F62E-4FB8-B968-3BF60F6CBEA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5595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8BA729-DBE2-49EE-91FE-3D8B2D9BF9AB}" type="datetime1">
              <a:rPr lang="vi-VN" smtClean="0"/>
              <a:t>15/10/2025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Course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691216-F62E-4FB8-B968-3BF60F6CBEA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4784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94865" y="1668729"/>
            <a:ext cx="9202270" cy="1760271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anchor="ctr">
            <a:normAutofit/>
          </a:bodyPr>
          <a:lstStyle/>
          <a:p>
            <a:r>
              <a:rPr lang="en-US" altLang="ko-KR" sz="44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Contiguous Storage</a:t>
            </a:r>
            <a:endParaRPr lang="en-US" sz="4400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53910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42906-41FE-4D78-8933-AADAA668E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A70F94-8514-4BB9-8244-50D32DA232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Clr>
                <a:srgbClr val="C00000"/>
              </a:buClr>
              <a:buNone/>
            </a:pPr>
            <a:r>
              <a:rPr lang="en-US" dirty="0"/>
              <a:t>How do you manage group data efficiently?</a:t>
            </a:r>
            <a:endParaRPr lang="en-US" dirty="0">
              <a:latin typeface="+mj-lt"/>
            </a:endParaRPr>
          </a:p>
          <a:p>
            <a:pPr>
              <a:lnSpc>
                <a:spcPct val="150000"/>
              </a:lnSpc>
              <a:buClr>
                <a:srgbClr val="C00000"/>
              </a:buClr>
            </a:pPr>
            <a:r>
              <a:rPr lang="en-US" sz="2600" dirty="0">
                <a:latin typeface="+mj-lt"/>
              </a:rPr>
              <a:t>Store</a:t>
            </a:r>
          </a:p>
          <a:p>
            <a:pPr>
              <a:lnSpc>
                <a:spcPct val="150000"/>
              </a:lnSpc>
              <a:buClr>
                <a:srgbClr val="C00000"/>
              </a:buClr>
            </a:pPr>
            <a:r>
              <a:rPr lang="en-US" sz="2600" dirty="0">
                <a:latin typeface="+mj-lt"/>
              </a:rPr>
              <a:t>Input</a:t>
            </a:r>
          </a:p>
          <a:p>
            <a:pPr>
              <a:lnSpc>
                <a:spcPct val="150000"/>
              </a:lnSpc>
              <a:buClr>
                <a:srgbClr val="C00000"/>
              </a:buClr>
            </a:pPr>
            <a:r>
              <a:rPr lang="en-US" sz="2600" dirty="0">
                <a:latin typeface="+mj-lt"/>
              </a:rPr>
              <a:t>Output</a:t>
            </a:r>
          </a:p>
          <a:p>
            <a:pPr>
              <a:lnSpc>
                <a:spcPct val="150000"/>
              </a:lnSpc>
              <a:buClr>
                <a:srgbClr val="C00000"/>
              </a:buClr>
            </a:pPr>
            <a:r>
              <a:rPr lang="en-US" sz="2600" dirty="0">
                <a:latin typeface="+mj-lt"/>
              </a:rPr>
              <a:t>Search</a:t>
            </a:r>
          </a:p>
          <a:p>
            <a:pPr>
              <a:lnSpc>
                <a:spcPct val="150000"/>
              </a:lnSpc>
              <a:buClr>
                <a:srgbClr val="C00000"/>
              </a:buClr>
            </a:pPr>
            <a:r>
              <a:rPr lang="en-US" sz="2600" dirty="0">
                <a:latin typeface="+mj-lt"/>
              </a:rPr>
              <a:t>Sort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492E25-2450-4198-99A6-618538580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70AF14-7EE6-4E20-8D7F-A38830C83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15/10/2025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43487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288CC-661C-4CD3-8FD1-08CAC3CE4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FD50F8-D0BE-4BED-9D51-97710B687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4236" y="1250353"/>
            <a:ext cx="11085946" cy="5122712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Introduction to contiguous storage</a:t>
            </a:r>
          </a:p>
          <a:p>
            <a:r>
              <a:rPr lang="en-US" dirty="0"/>
              <a:t>Arrays</a:t>
            </a:r>
          </a:p>
          <a:p>
            <a:r>
              <a:rPr lang="en-US" dirty="0"/>
              <a:t>One-dimensional Arrays</a:t>
            </a:r>
          </a:p>
          <a:p>
            <a:pPr lvl="1"/>
            <a:r>
              <a:rPr lang="en-US" dirty="0"/>
              <a:t>Declaration</a:t>
            </a:r>
          </a:p>
          <a:p>
            <a:pPr lvl="1"/>
            <a:r>
              <a:rPr lang="en-US" dirty="0"/>
              <a:t>Memory Allocation</a:t>
            </a:r>
          </a:p>
          <a:p>
            <a:pPr lvl="1"/>
            <a:r>
              <a:rPr lang="en-US" dirty="0"/>
              <a:t>Initialization</a:t>
            </a:r>
          </a:p>
          <a:p>
            <a:pPr lvl="1"/>
            <a:r>
              <a:rPr lang="en-US" dirty="0"/>
              <a:t>Accessing elements</a:t>
            </a:r>
          </a:p>
          <a:p>
            <a:pPr lvl="1"/>
            <a:r>
              <a:rPr lang="en-US" dirty="0"/>
              <a:t>Traversing</a:t>
            </a:r>
          </a:p>
          <a:p>
            <a:pPr lvl="1"/>
            <a:r>
              <a:rPr lang="en-US" dirty="0"/>
              <a:t>1-D Arrays are parameters of functions</a:t>
            </a:r>
          </a:p>
          <a:p>
            <a:pPr lvl="1"/>
            <a:r>
              <a:rPr lang="en-US" dirty="0"/>
              <a:t>Searching</a:t>
            </a:r>
          </a:p>
          <a:p>
            <a:pPr lvl="1"/>
            <a:r>
              <a:rPr lang="en-US" dirty="0"/>
              <a:t>Sorting</a:t>
            </a:r>
          </a:p>
          <a:p>
            <a:r>
              <a:rPr lang="en-US" dirty="0"/>
              <a:t>2-D Arrays</a:t>
            </a:r>
          </a:p>
          <a:p>
            <a:r>
              <a:rPr lang="en-US" dirty="0"/>
              <a:t>User-defined Data Type: Structure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52AE88-F5E1-4081-8DD1-CA0826584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CF7F6C-14EE-40DA-A4D5-0D0DF5A44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15/10/2025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95199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8F5AA-DB33-4DE4-8FFD-DD29B7A00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1- Contiguous Storage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5EF5AB-CDE9-4B2E-A170-F106D7C25E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Commonly, a set of the same meaning elements are considered.</a:t>
            </a:r>
          </a:p>
          <a:p>
            <a:r>
              <a:rPr lang="en-US" dirty="0"/>
              <a:t>They are stored in a contiguous block of memory.</a:t>
            </a:r>
          </a:p>
          <a:p>
            <a:r>
              <a:rPr lang="en-US" dirty="0"/>
              <a:t>Ex:  Group of 10 int numbers </a:t>
            </a:r>
            <a:r>
              <a:rPr lang="en-US" dirty="0">
                <a:sym typeface="Wingdings" pitchFamily="2" charset="2"/>
              </a:rPr>
              <a:t> 40 bytes block is needed.</a:t>
            </a:r>
          </a:p>
          <a:p>
            <a:r>
              <a:rPr lang="en-US" dirty="0">
                <a:sym typeface="Wingdings" pitchFamily="2" charset="2"/>
              </a:rPr>
              <a:t>Data are considered can be a group of some items which belong to some different data types  Contiguous memory block is partitioned into some parts which have different size, one part for an item.</a:t>
            </a:r>
          </a:p>
          <a:p>
            <a:r>
              <a:rPr lang="en-US" dirty="0">
                <a:sym typeface="Wingdings" pitchFamily="2" charset="2"/>
              </a:rPr>
              <a:t>Data structure: A structure of data stored.</a:t>
            </a:r>
          </a:p>
          <a:p>
            <a:r>
              <a:rPr lang="en-US" dirty="0">
                <a:sym typeface="Wingdings" pitchFamily="2" charset="2"/>
              </a:rPr>
              <a:t>Array is the simplest data structure which contains some items which belong to the sane data type.</a:t>
            </a:r>
          </a:p>
          <a:p>
            <a:r>
              <a:rPr lang="en-US" dirty="0">
                <a:sym typeface="Wingdings" pitchFamily="2" charset="2"/>
              </a:rPr>
              <a:t>Common used operations on a group: Add, Search, Remove, Update, Sort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00D3BF-8F81-4638-BE39-3F5A96685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53D6F0-F527-4464-903F-026B3603D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15/10/2025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1619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D905B-1A3A-42B2-91FA-D53BB54FC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2 - Array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283FE2-E3A6-446D-85F2-33F0DF21BC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4236" y="1207418"/>
            <a:ext cx="11085946" cy="5122712"/>
          </a:xfrm>
        </p:spPr>
        <p:txBody>
          <a:bodyPr/>
          <a:lstStyle/>
          <a:p>
            <a:r>
              <a:rPr lang="en-US" dirty="0"/>
              <a:t>An </a:t>
            </a:r>
            <a:r>
              <a:rPr lang="en-US" b="1" dirty="0"/>
              <a:t>array</a:t>
            </a:r>
            <a:r>
              <a:rPr lang="en-US" dirty="0"/>
              <a:t> is a data structure consisting of an </a:t>
            </a:r>
            <a:r>
              <a:rPr lang="en-US" u="sng" dirty="0"/>
              <a:t>ordered set of elements</a:t>
            </a:r>
            <a:r>
              <a:rPr lang="en-US" dirty="0"/>
              <a:t> of </a:t>
            </a:r>
            <a:r>
              <a:rPr lang="en-US" u="sng" dirty="0"/>
              <a:t>common type</a:t>
            </a:r>
            <a:r>
              <a:rPr lang="en-US" dirty="0"/>
              <a:t> that are stored contiguously in memory. Each element is identified by it’s position (index).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7C1099-86BF-4D3D-B177-DEA0803A1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65452B-895D-4935-873B-4C7090B35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15/10/2025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797D1B7-6AB1-4C09-8ED9-973783ACC3B0}"/>
              </a:ext>
            </a:extLst>
          </p:cNvPr>
          <p:cNvGrpSpPr/>
          <p:nvPr/>
        </p:nvGrpSpPr>
        <p:grpSpPr>
          <a:xfrm>
            <a:off x="1149945" y="3052481"/>
            <a:ext cx="10788055" cy="2704918"/>
            <a:chOff x="2201431" y="1073245"/>
            <a:chExt cx="10763290" cy="2704918"/>
          </a:xfrm>
        </p:grpSpPr>
        <p:sp>
          <p:nvSpPr>
            <p:cNvPr id="7" name="Rectangle 16">
              <a:extLst>
                <a:ext uri="{FF2B5EF4-FFF2-40B4-BE49-F238E27FC236}">
                  <a16:creationId xmlns:a16="http://schemas.microsoft.com/office/drawing/2014/main" id="{2C25B47C-A333-480B-B9DC-DAAA3B6847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9086" y="1420368"/>
              <a:ext cx="537519" cy="31699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 dirty="0">
                  <a:solidFill>
                    <a:srgbClr val="660033"/>
                  </a:solidFill>
                </a:rPr>
                <a:t>5</a:t>
              </a:r>
            </a:p>
          </p:txBody>
        </p:sp>
        <p:sp>
          <p:nvSpPr>
            <p:cNvPr id="8" name="Rectangle 17">
              <a:extLst>
                <a:ext uri="{FF2B5EF4-FFF2-40B4-BE49-F238E27FC236}">
                  <a16:creationId xmlns:a16="http://schemas.microsoft.com/office/drawing/2014/main" id="{4E275ED4-0BC5-4D81-8CE6-F3895A2C3D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6605" y="1420368"/>
              <a:ext cx="537519" cy="31699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 dirty="0">
                  <a:solidFill>
                    <a:srgbClr val="660033"/>
                  </a:solidFill>
                </a:rPr>
                <a:t>4</a:t>
              </a:r>
            </a:p>
          </p:txBody>
        </p:sp>
        <p:sp>
          <p:nvSpPr>
            <p:cNvPr id="9" name="Rectangle 18">
              <a:extLst>
                <a:ext uri="{FF2B5EF4-FFF2-40B4-BE49-F238E27FC236}">
                  <a16:creationId xmlns:a16="http://schemas.microsoft.com/office/drawing/2014/main" id="{4A4F8438-231B-4F2A-9CA6-C13A017FC6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4124" y="1420368"/>
              <a:ext cx="537519" cy="31699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 dirty="0">
                  <a:solidFill>
                    <a:srgbClr val="660033"/>
                  </a:solidFill>
                </a:rPr>
                <a:t>8</a:t>
              </a:r>
            </a:p>
          </p:txBody>
        </p:sp>
        <p:sp>
          <p:nvSpPr>
            <p:cNvPr id="10" name="Rectangle 19">
              <a:extLst>
                <a:ext uri="{FF2B5EF4-FFF2-40B4-BE49-F238E27FC236}">
                  <a16:creationId xmlns:a16="http://schemas.microsoft.com/office/drawing/2014/main" id="{CED0599E-B1B0-46F9-A6C8-4B1574FC1D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1643" y="1420368"/>
              <a:ext cx="537519" cy="31699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 dirty="0">
                  <a:solidFill>
                    <a:srgbClr val="660033"/>
                  </a:solidFill>
                </a:rPr>
                <a:t>15</a:t>
              </a:r>
            </a:p>
          </p:txBody>
        </p:sp>
        <p:sp>
          <p:nvSpPr>
            <p:cNvPr id="11" name="Rectangle 20">
              <a:extLst>
                <a:ext uri="{FF2B5EF4-FFF2-40B4-BE49-F238E27FC236}">
                  <a16:creationId xmlns:a16="http://schemas.microsoft.com/office/drawing/2014/main" id="{ECA66544-9FAC-4FE4-AD22-C81114B515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59162" y="1420368"/>
              <a:ext cx="537519" cy="31699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 dirty="0">
                  <a:solidFill>
                    <a:srgbClr val="660033"/>
                  </a:solidFill>
                </a:rPr>
                <a:t>90</a:t>
              </a:r>
            </a:p>
          </p:txBody>
        </p:sp>
        <p:sp>
          <p:nvSpPr>
            <p:cNvPr id="12" name="Rectangle 21">
              <a:extLst>
                <a:ext uri="{FF2B5EF4-FFF2-40B4-BE49-F238E27FC236}">
                  <a16:creationId xmlns:a16="http://schemas.microsoft.com/office/drawing/2014/main" id="{5C77CF98-F767-49FE-B7E3-556E530F40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96681" y="1420368"/>
              <a:ext cx="537519" cy="31699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 dirty="0">
                  <a:solidFill>
                    <a:srgbClr val="660033"/>
                  </a:solidFill>
                </a:rPr>
                <a:t>27</a:t>
              </a:r>
            </a:p>
          </p:txBody>
        </p:sp>
        <p:sp>
          <p:nvSpPr>
            <p:cNvPr id="13" name="Rectangle 22">
              <a:extLst>
                <a:ext uri="{FF2B5EF4-FFF2-40B4-BE49-F238E27FC236}">
                  <a16:creationId xmlns:a16="http://schemas.microsoft.com/office/drawing/2014/main" id="{D13BC816-EAD0-428B-B91B-12CAFC1D2D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34200" y="1420368"/>
              <a:ext cx="537519" cy="31699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 dirty="0">
                  <a:solidFill>
                    <a:srgbClr val="660033"/>
                  </a:solidFill>
                </a:rPr>
                <a:t>34</a:t>
              </a:r>
            </a:p>
          </p:txBody>
        </p:sp>
        <p:sp>
          <p:nvSpPr>
            <p:cNvPr id="14" name="Rectangle 23">
              <a:extLst>
                <a:ext uri="{FF2B5EF4-FFF2-40B4-BE49-F238E27FC236}">
                  <a16:creationId xmlns:a16="http://schemas.microsoft.com/office/drawing/2014/main" id="{4B02AEC6-B7F7-4495-AEEA-814B5F5EBE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71719" y="1420368"/>
              <a:ext cx="537519" cy="31699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 dirty="0">
                  <a:solidFill>
                    <a:srgbClr val="660033"/>
                  </a:solidFill>
                </a:rPr>
                <a:t>21</a:t>
              </a:r>
            </a:p>
          </p:txBody>
        </p:sp>
        <p:sp>
          <p:nvSpPr>
            <p:cNvPr id="15" name="Rectangle 24">
              <a:extLst>
                <a:ext uri="{FF2B5EF4-FFF2-40B4-BE49-F238E27FC236}">
                  <a16:creationId xmlns:a16="http://schemas.microsoft.com/office/drawing/2014/main" id="{0A957F26-2196-42C7-87B0-F4D8D53023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09238" y="1420368"/>
              <a:ext cx="537519" cy="31699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 dirty="0">
                  <a:solidFill>
                    <a:srgbClr val="660033"/>
                  </a:solidFill>
                </a:rPr>
                <a:t>152</a:t>
              </a:r>
            </a:p>
          </p:txBody>
        </p:sp>
        <p:sp>
          <p:nvSpPr>
            <p:cNvPr id="16" name="Rectangle 25">
              <a:extLst>
                <a:ext uri="{FF2B5EF4-FFF2-40B4-BE49-F238E27FC236}">
                  <a16:creationId xmlns:a16="http://schemas.microsoft.com/office/drawing/2014/main" id="{C81918A7-86A6-4EDD-816E-C537FF44EA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6757" y="1420368"/>
              <a:ext cx="537519" cy="31699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 dirty="0">
                  <a:solidFill>
                    <a:srgbClr val="660033"/>
                  </a:solidFill>
                </a:rPr>
                <a:t>80</a:t>
              </a:r>
            </a:p>
          </p:txBody>
        </p:sp>
        <p:sp>
          <p:nvSpPr>
            <p:cNvPr id="17" name="Rectangle 26">
              <a:extLst>
                <a:ext uri="{FF2B5EF4-FFF2-40B4-BE49-F238E27FC236}">
                  <a16:creationId xmlns:a16="http://schemas.microsoft.com/office/drawing/2014/main" id="{CE791723-C5B4-4D5A-A424-2DE7701BA2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1431" y="1420368"/>
              <a:ext cx="1134761" cy="356615"/>
            </a:xfrm>
            <a:prstGeom prst="rect">
              <a:avLst/>
            </a:prstGeom>
            <a:solidFill>
              <a:srgbClr val="FFFF66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 dirty="0"/>
                <a:t>a (array)</a:t>
              </a:r>
            </a:p>
          </p:txBody>
        </p:sp>
        <p:sp>
          <p:nvSpPr>
            <p:cNvPr id="18" name="Rectangle 27">
              <a:extLst>
                <a:ext uri="{FF2B5EF4-FFF2-40B4-BE49-F238E27FC236}">
                  <a16:creationId xmlns:a16="http://schemas.microsoft.com/office/drawing/2014/main" id="{4D6EBB32-D605-416D-AF1A-5D05692ECD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2032" y="1948918"/>
              <a:ext cx="1216741" cy="545592"/>
            </a:xfrm>
            <a:prstGeom prst="rect">
              <a:avLst/>
            </a:prstGeom>
            <a:solidFill>
              <a:srgbClr val="FFFF66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 dirty="0"/>
                <a:t>a[3]</a:t>
              </a:r>
            </a:p>
            <a:p>
              <a:pPr algn="ctr"/>
              <a:r>
                <a:rPr lang="en-US" b="1" dirty="0"/>
                <a:t>element</a:t>
              </a:r>
            </a:p>
          </p:txBody>
        </p:sp>
        <p:sp>
          <p:nvSpPr>
            <p:cNvPr id="20" name="Rectangle 30">
              <a:extLst>
                <a:ext uri="{FF2B5EF4-FFF2-40B4-BE49-F238E27FC236}">
                  <a16:creationId xmlns:a16="http://schemas.microsoft.com/office/drawing/2014/main" id="{36FA743F-B680-46CC-9A04-FBD2ED2806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9086" y="1073245"/>
              <a:ext cx="537519" cy="288131"/>
            </a:xfrm>
            <a:prstGeom prst="rect">
              <a:avLst/>
            </a:prstGeom>
            <a:solidFill>
              <a:srgbClr val="CCFF99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 dirty="0">
                  <a:solidFill>
                    <a:srgbClr val="000099"/>
                  </a:solidFill>
                </a:rPr>
                <a:t>0</a:t>
              </a:r>
            </a:p>
          </p:txBody>
        </p:sp>
        <p:sp>
          <p:nvSpPr>
            <p:cNvPr id="21" name="Rectangle 31">
              <a:extLst>
                <a:ext uri="{FF2B5EF4-FFF2-40B4-BE49-F238E27FC236}">
                  <a16:creationId xmlns:a16="http://schemas.microsoft.com/office/drawing/2014/main" id="{D28924C1-65F5-4BEC-ADAB-B6064CADA0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6605" y="1073245"/>
              <a:ext cx="537519" cy="288131"/>
            </a:xfrm>
            <a:prstGeom prst="rect">
              <a:avLst/>
            </a:prstGeom>
            <a:solidFill>
              <a:srgbClr val="CCFF99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 dirty="0">
                  <a:solidFill>
                    <a:srgbClr val="000099"/>
                  </a:solidFill>
                </a:rPr>
                <a:t>1</a:t>
              </a:r>
            </a:p>
          </p:txBody>
        </p:sp>
        <p:sp>
          <p:nvSpPr>
            <p:cNvPr id="22" name="Rectangle 32">
              <a:extLst>
                <a:ext uri="{FF2B5EF4-FFF2-40B4-BE49-F238E27FC236}">
                  <a16:creationId xmlns:a16="http://schemas.microsoft.com/office/drawing/2014/main" id="{6D1CBA27-1446-49B5-96FD-AFA8F9F430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4124" y="1073245"/>
              <a:ext cx="537519" cy="288131"/>
            </a:xfrm>
            <a:prstGeom prst="rect">
              <a:avLst/>
            </a:prstGeom>
            <a:solidFill>
              <a:srgbClr val="CCFF99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 dirty="0">
                  <a:solidFill>
                    <a:srgbClr val="000099"/>
                  </a:solidFill>
                </a:rPr>
                <a:t>2</a:t>
              </a:r>
            </a:p>
          </p:txBody>
        </p:sp>
        <p:sp>
          <p:nvSpPr>
            <p:cNvPr id="23" name="Rectangle 33">
              <a:extLst>
                <a:ext uri="{FF2B5EF4-FFF2-40B4-BE49-F238E27FC236}">
                  <a16:creationId xmlns:a16="http://schemas.microsoft.com/office/drawing/2014/main" id="{B24342EE-38CE-4CAA-9611-8D1D8D387D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1643" y="1073245"/>
              <a:ext cx="537519" cy="288131"/>
            </a:xfrm>
            <a:prstGeom prst="rect">
              <a:avLst/>
            </a:prstGeom>
            <a:solidFill>
              <a:srgbClr val="CCFF99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 dirty="0">
                  <a:solidFill>
                    <a:srgbClr val="000099"/>
                  </a:solidFill>
                </a:rPr>
                <a:t>3</a:t>
              </a:r>
            </a:p>
          </p:txBody>
        </p:sp>
        <p:sp>
          <p:nvSpPr>
            <p:cNvPr id="24" name="Rectangle 34">
              <a:extLst>
                <a:ext uri="{FF2B5EF4-FFF2-40B4-BE49-F238E27FC236}">
                  <a16:creationId xmlns:a16="http://schemas.microsoft.com/office/drawing/2014/main" id="{1E8A12A1-B6F1-43DA-BC0C-8EFC3A771C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59162" y="1073245"/>
              <a:ext cx="537519" cy="288131"/>
            </a:xfrm>
            <a:prstGeom prst="rect">
              <a:avLst/>
            </a:prstGeom>
            <a:solidFill>
              <a:srgbClr val="CCFF99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 dirty="0">
                  <a:solidFill>
                    <a:srgbClr val="000099"/>
                  </a:solidFill>
                </a:rPr>
                <a:t>4</a:t>
              </a:r>
            </a:p>
          </p:txBody>
        </p:sp>
        <p:sp>
          <p:nvSpPr>
            <p:cNvPr id="25" name="Rectangle 35">
              <a:extLst>
                <a:ext uri="{FF2B5EF4-FFF2-40B4-BE49-F238E27FC236}">
                  <a16:creationId xmlns:a16="http://schemas.microsoft.com/office/drawing/2014/main" id="{00E7E7C5-64D9-46F2-A75B-B05AC5245D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96681" y="1073245"/>
              <a:ext cx="537519" cy="288131"/>
            </a:xfrm>
            <a:prstGeom prst="rect">
              <a:avLst/>
            </a:prstGeom>
            <a:solidFill>
              <a:srgbClr val="CCFF99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 dirty="0">
                  <a:solidFill>
                    <a:srgbClr val="000099"/>
                  </a:solidFill>
                </a:rPr>
                <a:t>5</a:t>
              </a:r>
            </a:p>
          </p:txBody>
        </p:sp>
        <p:sp>
          <p:nvSpPr>
            <p:cNvPr id="26" name="Rectangle 36">
              <a:extLst>
                <a:ext uri="{FF2B5EF4-FFF2-40B4-BE49-F238E27FC236}">
                  <a16:creationId xmlns:a16="http://schemas.microsoft.com/office/drawing/2014/main" id="{E5F0B35C-0974-4377-9E28-BF2CF11FCA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34200" y="1073245"/>
              <a:ext cx="537519" cy="288131"/>
            </a:xfrm>
            <a:prstGeom prst="rect">
              <a:avLst/>
            </a:prstGeom>
            <a:solidFill>
              <a:srgbClr val="CCFF99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 dirty="0">
                  <a:solidFill>
                    <a:srgbClr val="000099"/>
                  </a:solidFill>
                </a:rPr>
                <a:t>6</a:t>
              </a:r>
            </a:p>
          </p:txBody>
        </p:sp>
        <p:sp>
          <p:nvSpPr>
            <p:cNvPr id="27" name="Rectangle 37">
              <a:extLst>
                <a:ext uri="{FF2B5EF4-FFF2-40B4-BE49-F238E27FC236}">
                  <a16:creationId xmlns:a16="http://schemas.microsoft.com/office/drawing/2014/main" id="{F44CACBB-5358-46DF-A806-B6DB669790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71719" y="1073245"/>
              <a:ext cx="537519" cy="288131"/>
            </a:xfrm>
            <a:prstGeom prst="rect">
              <a:avLst/>
            </a:prstGeom>
            <a:solidFill>
              <a:srgbClr val="CCFF99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 dirty="0">
                  <a:solidFill>
                    <a:srgbClr val="000099"/>
                  </a:solidFill>
                </a:rPr>
                <a:t>7</a:t>
              </a:r>
            </a:p>
          </p:txBody>
        </p:sp>
        <p:sp>
          <p:nvSpPr>
            <p:cNvPr id="28" name="Rectangle 38">
              <a:extLst>
                <a:ext uri="{FF2B5EF4-FFF2-40B4-BE49-F238E27FC236}">
                  <a16:creationId xmlns:a16="http://schemas.microsoft.com/office/drawing/2014/main" id="{3BE5D381-4BDA-4EA8-A467-3617D8C2AB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09238" y="1073245"/>
              <a:ext cx="537519" cy="288131"/>
            </a:xfrm>
            <a:prstGeom prst="rect">
              <a:avLst/>
            </a:prstGeom>
            <a:solidFill>
              <a:srgbClr val="CCFF99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 dirty="0">
                  <a:solidFill>
                    <a:srgbClr val="000099"/>
                  </a:solidFill>
                </a:rPr>
                <a:t>8</a:t>
              </a:r>
            </a:p>
          </p:txBody>
        </p:sp>
        <p:sp>
          <p:nvSpPr>
            <p:cNvPr id="29" name="Rectangle 39">
              <a:extLst>
                <a:ext uri="{FF2B5EF4-FFF2-40B4-BE49-F238E27FC236}">
                  <a16:creationId xmlns:a16="http://schemas.microsoft.com/office/drawing/2014/main" id="{49C30B0B-8A21-4EC1-B049-854CB72BCA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6757" y="1073245"/>
              <a:ext cx="537519" cy="288131"/>
            </a:xfrm>
            <a:prstGeom prst="rect">
              <a:avLst/>
            </a:prstGeom>
            <a:solidFill>
              <a:srgbClr val="CCFF99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 dirty="0">
                  <a:solidFill>
                    <a:srgbClr val="000099"/>
                  </a:solidFill>
                </a:rPr>
                <a:t>9</a:t>
              </a:r>
            </a:p>
          </p:txBody>
        </p:sp>
        <p:sp>
          <p:nvSpPr>
            <p:cNvPr id="30" name="AutoShape 42">
              <a:extLst>
                <a:ext uri="{FF2B5EF4-FFF2-40B4-BE49-F238E27FC236}">
                  <a16:creationId xmlns:a16="http://schemas.microsoft.com/office/drawing/2014/main" id="{5B050D11-27B5-40FE-AC13-DCA18C1508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9362" y="1380744"/>
              <a:ext cx="5494638" cy="396240"/>
            </a:xfrm>
            <a:prstGeom prst="wedgeRectCallout">
              <a:avLst>
                <a:gd name="adj1" fmla="val -55750"/>
                <a:gd name="adj2" fmla="val 11042"/>
              </a:avLst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/>
              <a:endParaRPr lang="en-US" dirty="0"/>
            </a:p>
          </p:txBody>
        </p:sp>
        <p:sp>
          <p:nvSpPr>
            <p:cNvPr id="31" name="Rectangle 43">
              <a:extLst>
                <a:ext uri="{FF2B5EF4-FFF2-40B4-BE49-F238E27FC236}">
                  <a16:creationId xmlns:a16="http://schemas.microsoft.com/office/drawing/2014/main" id="{30871A29-5D9C-4AD2-B7EA-1A9DFA6A6D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26942" y="1077881"/>
              <a:ext cx="1109250" cy="288131"/>
            </a:xfrm>
            <a:prstGeom prst="rect">
              <a:avLst/>
            </a:prstGeom>
            <a:solidFill>
              <a:srgbClr val="CCFF99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 dirty="0"/>
                <a:t>index</a:t>
              </a:r>
            </a:p>
          </p:txBody>
        </p:sp>
        <p:sp>
          <p:nvSpPr>
            <p:cNvPr id="32" name="Rectangle 47">
              <a:extLst>
                <a:ext uri="{FF2B5EF4-FFF2-40B4-BE49-F238E27FC236}">
                  <a16:creationId xmlns:a16="http://schemas.microsoft.com/office/drawing/2014/main" id="{5763740E-0EA6-4159-86F4-F44ADACD5C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17261" y="2026571"/>
              <a:ext cx="2085407" cy="455714"/>
            </a:xfrm>
            <a:prstGeom prst="rect">
              <a:avLst/>
            </a:prstGeom>
            <a:solidFill>
              <a:srgbClr val="FFFF66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 dirty="0"/>
                <a:t>a[i] is an integer</a:t>
              </a:r>
            </a:p>
          </p:txBody>
        </p:sp>
        <p:pic>
          <p:nvPicPr>
            <p:cNvPr id="33" name="Picture 2">
              <a:extLst>
                <a:ext uri="{FF2B5EF4-FFF2-40B4-BE49-F238E27FC236}">
                  <a16:creationId xmlns:a16="http://schemas.microsoft.com/office/drawing/2014/main" id="{93B7FDE8-979A-4636-A72C-7E81E86041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9764321" y="2825663"/>
              <a:ext cx="1924050" cy="9525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5DA6F339-1743-489B-9B5F-18E03213C41B}"/>
                </a:ext>
              </a:extLst>
            </p:cNvPr>
            <p:cNvSpPr/>
            <p:nvPr/>
          </p:nvSpPr>
          <p:spPr>
            <a:xfrm>
              <a:off x="9459521" y="2749463"/>
              <a:ext cx="457200" cy="304800"/>
            </a:xfrm>
            <a:prstGeom prst="rect">
              <a:avLst/>
            </a:prstGeom>
            <a:solidFill>
              <a:srgbClr val="0000C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m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153CFB9-7440-4A60-A937-162D00D63588}"/>
                </a:ext>
              </a:extLst>
            </p:cNvPr>
            <p:cNvSpPr/>
            <p:nvPr/>
          </p:nvSpPr>
          <p:spPr>
            <a:xfrm>
              <a:off x="8773721" y="3206663"/>
              <a:ext cx="838200" cy="304800"/>
            </a:xfrm>
            <a:prstGeom prst="rect">
              <a:avLst/>
            </a:prstGeom>
            <a:solidFill>
              <a:srgbClr val="0000C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row</a:t>
              </a: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55C3CA81-EB59-409D-B3E8-69A1834F5EF3}"/>
                </a:ext>
              </a:extLst>
            </p:cNvPr>
            <p:cNvSpPr/>
            <p:nvPr/>
          </p:nvSpPr>
          <p:spPr>
            <a:xfrm>
              <a:off x="10297721" y="2520863"/>
              <a:ext cx="1219200" cy="304800"/>
            </a:xfrm>
            <a:prstGeom prst="rect">
              <a:avLst/>
            </a:prstGeom>
            <a:solidFill>
              <a:srgbClr val="0000C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column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F5321D68-039B-47A0-AB40-3044BCC30320}"/>
                </a:ext>
              </a:extLst>
            </p:cNvPr>
            <p:cNvSpPr/>
            <p:nvPr/>
          </p:nvSpPr>
          <p:spPr>
            <a:xfrm>
              <a:off x="11897921" y="2825663"/>
              <a:ext cx="1066800" cy="304800"/>
            </a:xfrm>
            <a:prstGeom prst="rect">
              <a:avLst/>
            </a:prstGeom>
            <a:solidFill>
              <a:srgbClr val="0000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m[1][3]</a:t>
              </a:r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D9842C74-0D42-4752-9632-3380217BAEA2}"/>
                </a:ext>
              </a:extLst>
            </p:cNvPr>
            <p:cNvCxnSpPr>
              <a:stCxn id="37" idx="1"/>
            </p:cNvCxnSpPr>
            <p:nvPr/>
          </p:nvCxnSpPr>
          <p:spPr>
            <a:xfrm rot="10800000" flipV="1">
              <a:off x="11288321" y="2978063"/>
              <a:ext cx="609600" cy="381000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Rectangle 43">
              <a:extLst>
                <a:ext uri="{FF2B5EF4-FFF2-40B4-BE49-F238E27FC236}">
                  <a16:creationId xmlns:a16="http://schemas.microsoft.com/office/drawing/2014/main" id="{49B6C671-73C0-4BE2-83B6-DCA8FAAC69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78548" y="1380745"/>
              <a:ext cx="1109250" cy="356615"/>
            </a:xfrm>
            <a:prstGeom prst="rect">
              <a:avLst/>
            </a:prstGeom>
            <a:solidFill>
              <a:srgbClr val="CCFF99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 dirty="0"/>
                <a:t>value</a:t>
              </a:r>
            </a:p>
          </p:txBody>
        </p:sp>
      </p:grp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2AAACFFD-9AD1-4508-917A-3179EC586EC5}"/>
              </a:ext>
            </a:extLst>
          </p:cNvPr>
          <p:cNvCxnSpPr>
            <a:stCxn id="18" idx="0"/>
            <a:endCxn id="10" idx="2"/>
          </p:cNvCxnSpPr>
          <p:nvPr/>
        </p:nvCxnSpPr>
        <p:spPr>
          <a:xfrm flipH="1" flipV="1">
            <a:off x="4546714" y="3716596"/>
            <a:ext cx="1" cy="21155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87A2B0EA-5252-4B12-BD8E-66DCD2BA4CCB}"/>
              </a:ext>
            </a:extLst>
          </p:cNvPr>
          <p:cNvCxnSpPr>
            <a:stCxn id="31" idx="3"/>
            <a:endCxn id="20" idx="1"/>
          </p:cNvCxnSpPr>
          <p:nvPr/>
        </p:nvCxnSpPr>
        <p:spPr>
          <a:xfrm flipV="1">
            <a:off x="2287317" y="3196547"/>
            <a:ext cx="373752" cy="463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A6C3EDCA-828C-46AA-9237-60C11BCAD17B}"/>
              </a:ext>
            </a:extLst>
          </p:cNvPr>
          <p:cNvCxnSpPr>
            <a:cxnSpLocks/>
            <a:stCxn id="45" idx="1"/>
          </p:cNvCxnSpPr>
          <p:nvPr/>
        </p:nvCxnSpPr>
        <p:spPr>
          <a:xfrm flipH="1">
            <a:off x="7861292" y="3538289"/>
            <a:ext cx="48228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B2B0D502-19DC-4DDF-9FBE-B0A7C0CAF4B0}"/>
              </a:ext>
            </a:extLst>
          </p:cNvPr>
          <p:cNvSpPr/>
          <p:nvPr/>
        </p:nvSpPr>
        <p:spPr>
          <a:xfrm>
            <a:off x="253999" y="4738500"/>
            <a:ext cx="7232923" cy="1600644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31775" indent="-231775">
              <a:buFont typeface="Arial" pitchFamily="34" charset="0"/>
              <a:buChar char="•"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Dimension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: Direction that is used to perform an action on array.</a:t>
            </a:r>
          </a:p>
          <a:p>
            <a:pPr marL="231775" indent="-231775">
              <a:buFont typeface="Arial" pitchFamily="34" charset="0"/>
              <a:buChar char="•"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Number of dimensions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: Number of indexes are used to specify an element.</a:t>
            </a:r>
          </a:p>
          <a:p>
            <a:pPr marL="231775" indent="-231775">
              <a:buFont typeface="Arial" pitchFamily="34" charset="0"/>
              <a:buChar char="•"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Common arrays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: 1-D and 2-D arrays. </a:t>
            </a:r>
          </a:p>
          <a:p>
            <a:pPr marL="231775" indent="-231775">
              <a:buFont typeface="Arial" pitchFamily="34" charset="0"/>
              <a:buChar char="•"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Name of an array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:  An array has it’s name.</a:t>
            </a:r>
          </a:p>
        </p:txBody>
      </p:sp>
    </p:spTree>
    <p:extLst>
      <p:ext uri="{BB962C8B-B14F-4D97-AF65-F5344CB8AC3E}">
        <p14:creationId xmlns:p14="http://schemas.microsoft.com/office/powerpoint/2010/main" val="5853172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83B30-A8E6-4B74-A067-18F577CD4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3 - One-dimensional Arrays (1-D)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9F3B18-320A-405C-85ED-5448FCAB03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1-D array</a:t>
            </a:r>
            <a:r>
              <a:rPr lang="en-US" dirty="0"/>
              <a:t>: a collection of items (elements, terms) which belong to the </a:t>
            </a:r>
            <a:r>
              <a:rPr lang="en-US" dirty="0">
                <a:solidFill>
                  <a:srgbClr val="0000CC"/>
                </a:solidFill>
              </a:rPr>
              <a:t>same data type</a:t>
            </a:r>
            <a:r>
              <a:rPr lang="en-US" dirty="0"/>
              <a:t> and are </a:t>
            </a:r>
            <a:r>
              <a:rPr lang="en-US" dirty="0">
                <a:solidFill>
                  <a:srgbClr val="0000CC"/>
                </a:solidFill>
              </a:rPr>
              <a:t>stored contiguously in memory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Each element has a </a:t>
            </a:r>
            <a:r>
              <a:rPr lang="en-US" u="sng" dirty="0"/>
              <a:t>unique index </a:t>
            </a:r>
            <a:r>
              <a:rPr lang="en-US" dirty="0"/>
              <a:t>and </a:t>
            </a:r>
            <a:r>
              <a:rPr lang="en-US" u="sng" dirty="0"/>
              <a:t>holds a single value</a:t>
            </a:r>
            <a:r>
              <a:rPr lang="en-US" dirty="0"/>
              <a:t>. Index numbering </a:t>
            </a:r>
            <a:r>
              <a:rPr lang="en-US" u="sng" dirty="0"/>
              <a:t>starts at 0</a:t>
            </a:r>
            <a:r>
              <a:rPr lang="en-US" dirty="0"/>
              <a:t> and extends to </a:t>
            </a:r>
            <a:r>
              <a:rPr lang="en-US" u="sng" dirty="0"/>
              <a:t>one less than the number of elements in the array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To refer to a specific element, we write the array name followed by bracket notation around the element's index. Example: </a:t>
            </a:r>
            <a:r>
              <a:rPr lang="en-US" dirty="0">
                <a:solidFill>
                  <a:srgbClr val="0000CC"/>
                </a:solidFill>
              </a:rPr>
              <a:t>identifier[index]</a:t>
            </a:r>
            <a:endParaRPr lang="en-US" dirty="0"/>
          </a:p>
          <a:p>
            <a:r>
              <a:rPr lang="en-US" dirty="0"/>
              <a:t>1-D array structure: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E0F483-AEBA-453D-8B3D-E051A82D9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3643F7-8109-4431-BCD3-4CEBA4208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15/10/2025</a:t>
            </a:fld>
            <a:endParaRPr lang="en-US" dirty="0"/>
          </a:p>
        </p:txBody>
      </p:sp>
      <p:pic>
        <p:nvPicPr>
          <p:cNvPr id="72" name="Picture 71">
            <a:extLst>
              <a:ext uri="{FF2B5EF4-FFF2-40B4-BE49-F238E27FC236}">
                <a16:creationId xmlns:a16="http://schemas.microsoft.com/office/drawing/2014/main" id="{44B00ABD-3AB5-4385-9340-596C4F90B8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514" y="4895152"/>
            <a:ext cx="7924146" cy="1546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8510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E24DA-81EB-433C-BD5C-BA7FE1BB6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1-D Array: Declaration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681DED-F9D9-48E6-8131-26BC1C3683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/>
              <a:t>If the array is stored in the stack segment </a:t>
            </a:r>
            <a:r>
              <a:rPr lang="en-US" sz="2200" dirty="0">
                <a:sym typeface="Wingdings" pitchFamily="2" charset="2"/>
              </a:rPr>
              <a:t> Use a </a:t>
            </a:r>
            <a:r>
              <a:rPr lang="en-US" sz="2200" b="1" dirty="0">
                <a:sym typeface="Wingdings" pitchFamily="2" charset="2"/>
              </a:rPr>
              <a:t>STATIC</a:t>
            </a:r>
            <a:r>
              <a:rPr lang="en-US" sz="2200" dirty="0">
                <a:sym typeface="Wingdings" pitchFamily="2" charset="2"/>
              </a:rPr>
              <a:t> array  The compiler will determine the array’s storage at compile-time.</a:t>
            </a:r>
          </a:p>
          <a:p>
            <a:r>
              <a:rPr lang="en-US" sz="2200" b="1" dirty="0">
                <a:sym typeface="Wingdings" pitchFamily="2" charset="2"/>
              </a:rPr>
              <a:t>Syntax</a:t>
            </a:r>
            <a:r>
              <a:rPr lang="en-US" sz="2200" dirty="0">
                <a:sym typeface="Wingdings" pitchFamily="2" charset="2"/>
              </a:rPr>
              <a:t>:</a:t>
            </a:r>
          </a:p>
          <a:p>
            <a:endParaRPr lang="en-US" sz="2200" dirty="0">
              <a:sym typeface="Wingdings" pitchFamily="2" charset="2"/>
            </a:endParaRPr>
          </a:p>
          <a:p>
            <a:r>
              <a:rPr lang="en-US" sz="2200" dirty="0">
                <a:sym typeface="Wingdings" pitchFamily="2" charset="2"/>
              </a:rPr>
              <a:t>Example: </a:t>
            </a:r>
          </a:p>
          <a:p>
            <a:pPr marL="0" indent="0">
              <a:buNone/>
            </a:pPr>
            <a:r>
              <a:rPr lang="en-US" sz="2200" dirty="0">
                <a:sym typeface="Wingdings" pitchFamily="2" charset="2"/>
              </a:rPr>
              <a:t>	int a1[5]; char s[12]; double a2[100];</a:t>
            </a:r>
            <a:endParaRPr lang="en-US" sz="2000" dirty="0">
              <a:sym typeface="Wingdings" pitchFamily="2" charset="2"/>
            </a:endParaRPr>
          </a:p>
          <a:p>
            <a:r>
              <a:rPr lang="en-US" sz="2400" dirty="0"/>
              <a:t>How compilers can determine the memory size of an array?</a:t>
            </a:r>
          </a:p>
          <a:p>
            <a:pPr indent="0">
              <a:buNone/>
            </a:pPr>
            <a:r>
              <a:rPr lang="en-US" sz="2200" dirty="0"/>
              <a:t>=&gt; </a:t>
            </a:r>
            <a:r>
              <a:rPr lang="en-US" sz="2200" dirty="0" err="1"/>
              <a:t>NumberOfElements</a:t>
            </a:r>
            <a:r>
              <a:rPr lang="en-US" sz="2200" b="1" dirty="0"/>
              <a:t> * </a:t>
            </a:r>
            <a:r>
              <a:rPr lang="en-US" sz="2200" dirty="0" err="1"/>
              <a:t>sizeof</a:t>
            </a:r>
            <a:r>
              <a:rPr lang="en-US" sz="2200" dirty="0"/>
              <a:t>(</a:t>
            </a:r>
            <a:r>
              <a:rPr lang="en-US" sz="2200" dirty="0" err="1"/>
              <a:t>dataType</a:t>
            </a:r>
            <a:r>
              <a:rPr lang="en-US" sz="2200" dirty="0"/>
              <a:t>)</a:t>
            </a:r>
            <a:r>
              <a:rPr lang="en-US" sz="2200" b="1" dirty="0"/>
              <a:t> </a:t>
            </a:r>
            <a:r>
              <a:rPr lang="en-US" sz="2200" dirty="0">
                <a:sym typeface="Wingdings" pitchFamily="2" charset="2"/>
              </a:rPr>
              <a:t> int  a1[5]  5 *</a:t>
            </a:r>
            <a:r>
              <a:rPr lang="en-US" sz="2200" dirty="0" err="1">
                <a:sym typeface="Wingdings" pitchFamily="2" charset="2"/>
              </a:rPr>
              <a:t>sizeof</a:t>
            </a:r>
            <a:r>
              <a:rPr lang="en-US" sz="2200" dirty="0">
                <a:sym typeface="Wingdings" pitchFamily="2" charset="2"/>
              </a:rPr>
              <a:t>(int) = 5*4 = 20 bytes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7B5950-51EB-4387-BFD3-08DBDFB46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6FE7D6-61C0-450F-8F50-26013D3EA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15/10/2025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965451B-7342-43F3-8F5A-C350BD52AA57}"/>
              </a:ext>
            </a:extLst>
          </p:cNvPr>
          <p:cNvSpPr/>
          <p:nvPr/>
        </p:nvSpPr>
        <p:spPr>
          <a:xfrm>
            <a:off x="2499360" y="2736403"/>
            <a:ext cx="7416800" cy="50144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 err="1">
                <a:solidFill>
                  <a:srgbClr val="008000"/>
                </a:solidFill>
              </a:rPr>
              <a:t>DataType</a:t>
            </a:r>
            <a:r>
              <a:rPr lang="en-US" sz="2400" b="1" dirty="0">
                <a:solidFill>
                  <a:schemeClr val="tx1"/>
                </a:solidFill>
              </a:rPr>
              <a:t> </a:t>
            </a:r>
            <a:r>
              <a:rPr lang="en-US" sz="2400" b="1" dirty="0" err="1">
                <a:solidFill>
                  <a:srgbClr val="B31996"/>
                </a:solidFill>
              </a:rPr>
              <a:t>ArrayName</a:t>
            </a:r>
            <a:r>
              <a:rPr lang="en-US" sz="2400" b="1" dirty="0">
                <a:solidFill>
                  <a:schemeClr val="tx1"/>
                </a:solidFill>
              </a:rPr>
              <a:t>[</a:t>
            </a:r>
            <a:r>
              <a:rPr lang="en-US" sz="2400" b="1" dirty="0" err="1">
                <a:solidFill>
                  <a:schemeClr val="tx1"/>
                </a:solidFill>
              </a:rPr>
              <a:t>NumberOfElements</a:t>
            </a:r>
            <a:r>
              <a:rPr lang="en-US" sz="2400" b="1" dirty="0">
                <a:solidFill>
                  <a:schemeClr val="tx1"/>
                </a:solidFill>
              </a:rPr>
              <a:t>];</a:t>
            </a:r>
          </a:p>
        </p:txBody>
      </p:sp>
    </p:spTree>
    <p:extLst>
      <p:ext uri="{BB962C8B-B14F-4D97-AF65-F5344CB8AC3E}">
        <p14:creationId xmlns:p14="http://schemas.microsoft.com/office/powerpoint/2010/main" val="12982583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E24DA-81EB-433C-BD5C-BA7FE1BB6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1-D Array: Declaration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681DED-F9D9-48E6-8131-26BC1C3683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4236" y="1319178"/>
            <a:ext cx="11263284" cy="5122712"/>
          </a:xfrm>
        </p:spPr>
        <p:txBody>
          <a:bodyPr>
            <a:normAutofit/>
          </a:bodyPr>
          <a:lstStyle/>
          <a:p>
            <a:r>
              <a:rPr lang="en-US" sz="2500" dirty="0"/>
              <a:t>If the array is stored in the heap </a:t>
            </a:r>
            <a:r>
              <a:rPr lang="en-US" sz="2500" dirty="0">
                <a:sym typeface="Wingdings" pitchFamily="2" charset="2"/>
              </a:rPr>
              <a:t> Use a pointer (DYNAMIC array)  The array’s storage will be allocated in the heap at run-time through memory allocating functions (malloc, </a:t>
            </a:r>
            <a:r>
              <a:rPr lang="en-US" sz="2500" dirty="0" err="1">
                <a:sym typeface="Wingdings" pitchFamily="2" charset="2"/>
              </a:rPr>
              <a:t>calloc</a:t>
            </a:r>
            <a:r>
              <a:rPr lang="en-US" sz="2500" dirty="0">
                <a:sym typeface="Wingdings" pitchFamily="2" charset="2"/>
              </a:rPr>
              <a:t>, </a:t>
            </a:r>
            <a:r>
              <a:rPr lang="en-US" sz="2500" dirty="0" err="1">
                <a:sym typeface="Wingdings" pitchFamily="2" charset="2"/>
              </a:rPr>
              <a:t>realloc</a:t>
            </a:r>
            <a:r>
              <a:rPr lang="en-US" sz="2500" dirty="0">
                <a:sym typeface="Wingdings" pitchFamily="2" charset="2"/>
              </a:rPr>
              <a:t>)</a:t>
            </a:r>
            <a:endParaRPr lang="en-US" sz="2200" dirty="0">
              <a:sym typeface="Wingdings" pitchFamily="2" charset="2"/>
            </a:endParaRPr>
          </a:p>
          <a:p>
            <a:r>
              <a:rPr lang="en-US" sz="2200" dirty="0">
                <a:sym typeface="Wingdings" pitchFamily="2" charset="2"/>
              </a:rPr>
              <a:t>Example: </a:t>
            </a:r>
          </a:p>
          <a:p>
            <a:pPr marL="0" indent="0">
              <a:buNone/>
            </a:pPr>
            <a:r>
              <a:rPr lang="en-US" sz="2200" dirty="0">
                <a:sym typeface="Wingdings" pitchFamily="2" charset="2"/>
              </a:rPr>
              <a:t>	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7B5950-51EB-4387-BFD3-08DBDFB46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6FE7D6-61C0-450F-8F50-26013D3EA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15/10/2025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6EA84F8-9F37-454E-86D5-1CAB5E03C8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587" y="3639669"/>
            <a:ext cx="10546085" cy="2802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9835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E24DA-81EB-433C-BD5C-BA7FE1BB6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601" y="634818"/>
            <a:ext cx="11085946" cy="468797"/>
          </a:xfrm>
        </p:spPr>
        <p:txBody>
          <a:bodyPr/>
          <a:lstStyle/>
          <a:p>
            <a:r>
              <a:rPr lang="en-US" dirty="0"/>
              <a:t>1-D Array: Example Memory Allocation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7B5950-51EB-4387-BFD3-08DBDFB46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6FE7D6-61C0-450F-8F50-26013D3EA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15/10/2025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4073A3A-B779-40C1-A40C-0150315E05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414" y="1220891"/>
            <a:ext cx="6231890" cy="457511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2FE55981-8EE8-43B7-82FA-2FD5A23EC485}"/>
              </a:ext>
            </a:extLst>
          </p:cNvPr>
          <p:cNvSpPr/>
          <p:nvPr/>
        </p:nvSpPr>
        <p:spPr>
          <a:xfrm>
            <a:off x="10454197" y="2117164"/>
            <a:ext cx="1066801" cy="1828800"/>
          </a:xfrm>
          <a:prstGeom prst="rect">
            <a:avLst/>
          </a:prstGeom>
          <a:solidFill>
            <a:srgbClr val="99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0000FF"/>
                </a:solidFill>
              </a:rPr>
              <a:t>80 bytes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403566-880D-4F31-9DD9-060ED0098471}"/>
              </a:ext>
            </a:extLst>
          </p:cNvPr>
          <p:cNvSpPr/>
          <p:nvPr/>
        </p:nvSpPr>
        <p:spPr>
          <a:xfrm>
            <a:off x="9463598" y="4724953"/>
            <a:ext cx="990600" cy="22860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6684152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5A89377-BFD7-4787-9992-1DF556D39DFB}"/>
              </a:ext>
            </a:extLst>
          </p:cNvPr>
          <p:cNvSpPr/>
          <p:nvPr/>
        </p:nvSpPr>
        <p:spPr>
          <a:xfrm>
            <a:off x="9463598" y="4496353"/>
            <a:ext cx="990600" cy="22860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6684160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27C0D09-0A12-4188-9575-1B3FE3FE09B0}"/>
              </a:ext>
            </a:extLst>
          </p:cNvPr>
          <p:cNvSpPr/>
          <p:nvPr/>
        </p:nvSpPr>
        <p:spPr>
          <a:xfrm>
            <a:off x="9463598" y="1812364"/>
            <a:ext cx="990600" cy="22860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4199776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5C52E58-1B2A-4BA7-8109-B90992ADF648}"/>
              </a:ext>
            </a:extLst>
          </p:cNvPr>
          <p:cNvSpPr/>
          <p:nvPr/>
        </p:nvSpPr>
        <p:spPr>
          <a:xfrm>
            <a:off x="9463598" y="870338"/>
            <a:ext cx="990600" cy="46839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42026608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5F256AC-F24A-4D86-96AE-80963C680A7A}"/>
              </a:ext>
            </a:extLst>
          </p:cNvPr>
          <p:cNvSpPr/>
          <p:nvPr/>
        </p:nvSpPr>
        <p:spPr>
          <a:xfrm>
            <a:off x="10454198" y="873147"/>
            <a:ext cx="1066800" cy="461697"/>
          </a:xfrm>
          <a:prstGeom prst="rect">
            <a:avLst/>
          </a:prstGeom>
          <a:solidFill>
            <a:srgbClr val="0099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/>
              <a:t>20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8E9D335-A2DF-4D34-8E1D-ACB50382B2EF}"/>
              </a:ext>
            </a:extLst>
          </p:cNvPr>
          <p:cNvSpPr/>
          <p:nvPr/>
        </p:nvSpPr>
        <p:spPr>
          <a:xfrm>
            <a:off x="10454198" y="4115353"/>
            <a:ext cx="1066800" cy="609600"/>
          </a:xfrm>
          <a:prstGeom prst="rect">
            <a:avLst/>
          </a:prstGeom>
          <a:solidFill>
            <a:srgbClr val="00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rgbClr val="FF0000"/>
                </a:solidFill>
              </a:rPr>
              <a:t>20 bytes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4FCC3EC-731E-4C51-8A13-188368CD87C5}"/>
              </a:ext>
            </a:extLst>
          </p:cNvPr>
          <p:cNvSpPr/>
          <p:nvPr/>
        </p:nvSpPr>
        <p:spPr>
          <a:xfrm>
            <a:off x="10454198" y="4724953"/>
            <a:ext cx="1066800" cy="236422"/>
          </a:xfrm>
          <a:prstGeom prst="rect">
            <a:avLst/>
          </a:prstGeom>
          <a:solidFill>
            <a:srgbClr val="00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rgbClr val="0000FF"/>
                </a:solidFill>
              </a:rPr>
              <a:t>1929056</a:t>
            </a:r>
            <a:r>
              <a:rPr lang="en-US" sz="1600" b="1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EC64EF9-8B87-467B-886B-9F83E2547815}"/>
              </a:ext>
            </a:extLst>
          </p:cNvPr>
          <p:cNvSpPr/>
          <p:nvPr/>
        </p:nvSpPr>
        <p:spPr>
          <a:xfrm>
            <a:off x="10454198" y="1431364"/>
            <a:ext cx="1066800" cy="609600"/>
          </a:xfrm>
          <a:prstGeom prst="rect">
            <a:avLst/>
          </a:prstGeom>
          <a:solidFill>
            <a:srgbClr val="0099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/>
              <a:t>Code of main()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A88BC16-356B-489D-8D10-EB605DA97222}"/>
              </a:ext>
            </a:extLst>
          </p:cNvPr>
          <p:cNvSpPr/>
          <p:nvPr/>
        </p:nvSpPr>
        <p:spPr>
          <a:xfrm>
            <a:off x="8310026" y="4115353"/>
            <a:ext cx="1028212" cy="838200"/>
          </a:xfrm>
          <a:prstGeom prst="rect">
            <a:avLst/>
          </a:prstGeom>
          <a:solidFill>
            <a:srgbClr val="99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0000FF"/>
                </a:solidFill>
              </a:rPr>
              <a:t>STACK</a:t>
            </a:r>
          </a:p>
          <a:p>
            <a:pPr algn="ctr"/>
            <a:r>
              <a:rPr lang="en-US" sz="1400" b="1" dirty="0">
                <a:solidFill>
                  <a:srgbClr val="0000FF"/>
                </a:solidFill>
              </a:rPr>
              <a:t>segment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529B630-CE25-4DEA-A0EE-BE9920172976}"/>
              </a:ext>
            </a:extLst>
          </p:cNvPr>
          <p:cNvSpPr/>
          <p:nvPr/>
        </p:nvSpPr>
        <p:spPr>
          <a:xfrm>
            <a:off x="8310026" y="876614"/>
            <a:ext cx="1028212" cy="468390"/>
          </a:xfrm>
          <a:prstGeom prst="rect">
            <a:avLst/>
          </a:prstGeom>
          <a:solidFill>
            <a:srgbClr val="99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0000FF"/>
                </a:solidFill>
              </a:rPr>
              <a:t>Data segment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EDE52BF-7DD6-47F9-A559-4693757449C9}"/>
              </a:ext>
            </a:extLst>
          </p:cNvPr>
          <p:cNvSpPr/>
          <p:nvPr/>
        </p:nvSpPr>
        <p:spPr>
          <a:xfrm>
            <a:off x="8310026" y="1431364"/>
            <a:ext cx="1028212" cy="609600"/>
          </a:xfrm>
          <a:prstGeom prst="rect">
            <a:avLst/>
          </a:prstGeom>
          <a:solidFill>
            <a:srgbClr val="99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0000FF"/>
                </a:solidFill>
              </a:rPr>
              <a:t>Code segment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B6C52008-4762-4EA4-B177-ECAB2F53E1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6934" y="5094332"/>
            <a:ext cx="2862973" cy="1275582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5C8F5BF6-FE05-44DF-9E35-4A870F9F823B}"/>
              </a:ext>
            </a:extLst>
          </p:cNvPr>
          <p:cNvSpPr/>
          <p:nvPr/>
        </p:nvSpPr>
        <p:spPr>
          <a:xfrm>
            <a:off x="8310026" y="2117164"/>
            <a:ext cx="1028212" cy="1828800"/>
          </a:xfrm>
          <a:prstGeom prst="rect">
            <a:avLst/>
          </a:prstGeom>
          <a:solidFill>
            <a:srgbClr val="99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0000FF"/>
                </a:solidFill>
              </a:rPr>
              <a:t>HEAP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4F043A1-99DB-4D73-BC8C-0DBC36A02B26}"/>
              </a:ext>
            </a:extLst>
          </p:cNvPr>
          <p:cNvSpPr/>
          <p:nvPr/>
        </p:nvSpPr>
        <p:spPr>
          <a:xfrm>
            <a:off x="9463597" y="3717364"/>
            <a:ext cx="990600" cy="22860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1929056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DA8373C4-10AF-4967-8275-99DFB7F59B75}"/>
              </a:ext>
            </a:extLst>
          </p:cNvPr>
          <p:cNvCxnSpPr>
            <a:cxnSpLocks/>
          </p:cNvCxnSpPr>
          <p:nvPr/>
        </p:nvCxnSpPr>
        <p:spPr>
          <a:xfrm>
            <a:off x="10454197" y="547444"/>
            <a:ext cx="0" cy="4879192"/>
          </a:xfrm>
          <a:prstGeom prst="line">
            <a:avLst/>
          </a:prstGeom>
          <a:ln w="127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F8704405-DB3D-4B6B-849D-59306DF8FD31}"/>
              </a:ext>
            </a:extLst>
          </p:cNvPr>
          <p:cNvCxnSpPr>
            <a:cxnSpLocks/>
          </p:cNvCxnSpPr>
          <p:nvPr/>
        </p:nvCxnSpPr>
        <p:spPr>
          <a:xfrm flipH="1">
            <a:off x="11517825" y="547444"/>
            <a:ext cx="1588" cy="4879192"/>
          </a:xfrm>
          <a:prstGeom prst="line">
            <a:avLst/>
          </a:prstGeom>
          <a:ln w="127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F96EBE4A-DF8F-4535-BC91-EC91C2438E03}"/>
              </a:ext>
            </a:extLst>
          </p:cNvPr>
          <p:cNvCxnSpPr>
            <a:cxnSpLocks/>
            <a:stCxn id="36" idx="2"/>
          </p:cNvCxnSpPr>
          <p:nvPr/>
        </p:nvCxnSpPr>
        <p:spPr>
          <a:xfrm>
            <a:off x="9958897" y="3945964"/>
            <a:ext cx="615908" cy="838200"/>
          </a:xfrm>
          <a:prstGeom prst="straightConnector1">
            <a:avLst/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4219A83C-523E-4FF4-8CC4-A32518119D3F}"/>
              </a:ext>
            </a:extLst>
          </p:cNvPr>
          <p:cNvCxnSpPr>
            <a:cxnSpLocks/>
            <a:endCxn id="19" idx="1"/>
          </p:cNvCxnSpPr>
          <p:nvPr/>
        </p:nvCxnSpPr>
        <p:spPr>
          <a:xfrm flipV="1">
            <a:off x="1960881" y="1104533"/>
            <a:ext cx="7502717" cy="79086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98218DEA-DF0E-486E-B9E6-FC09F075A484}"/>
              </a:ext>
            </a:extLst>
          </p:cNvPr>
          <p:cNvCxnSpPr>
            <a:cxnSpLocks/>
            <a:endCxn id="15" idx="1"/>
          </p:cNvCxnSpPr>
          <p:nvPr/>
        </p:nvCxnSpPr>
        <p:spPr>
          <a:xfrm flipV="1">
            <a:off x="1666240" y="1926664"/>
            <a:ext cx="7797358" cy="43498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6E25D368-042E-4479-9459-05EA0ED294F8}"/>
              </a:ext>
            </a:extLst>
          </p:cNvPr>
          <p:cNvSpPr/>
          <p:nvPr/>
        </p:nvSpPr>
        <p:spPr>
          <a:xfrm>
            <a:off x="3251200" y="3261360"/>
            <a:ext cx="1249680" cy="177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19CD717-5B4B-4181-BA96-24CD2104045D}"/>
              </a:ext>
            </a:extLst>
          </p:cNvPr>
          <p:cNvSpPr/>
          <p:nvPr/>
        </p:nvSpPr>
        <p:spPr>
          <a:xfrm>
            <a:off x="3251200" y="3498016"/>
            <a:ext cx="1351280" cy="177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F6B5FAD5-951A-4933-8A25-5907DF2DC1CF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2052864" y="3380162"/>
            <a:ext cx="7410734" cy="1230491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3E668C1C-81CF-4646-B39B-6724F29F8065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1990183" y="3673063"/>
            <a:ext cx="7473415" cy="116619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C543F1D5-9A12-4587-B9F4-23D177FC6D15}"/>
              </a:ext>
            </a:extLst>
          </p:cNvPr>
          <p:cNvCxnSpPr>
            <a:cxnSpLocks/>
            <a:endCxn id="36" idx="1"/>
          </p:cNvCxnSpPr>
          <p:nvPr/>
        </p:nvCxnSpPr>
        <p:spPr>
          <a:xfrm flipV="1">
            <a:off x="5087424" y="3831664"/>
            <a:ext cx="4376173" cy="39901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4974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DD01E-6581-4865-BA2E-BEA73F7ED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1-D Arrays: Initialization &amp; Accessing Elements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83364-4F4D-41A1-8EBA-CF74FA42D4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+mj-lt"/>
              </a:rPr>
              <a:t>Initialize an array:</a:t>
            </a:r>
          </a:p>
          <a:p>
            <a:endParaRPr lang="en-US" b="1" dirty="0">
              <a:latin typeface="+mj-lt"/>
            </a:endParaRPr>
          </a:p>
          <a:p>
            <a:endParaRPr lang="en-US" b="1" dirty="0">
              <a:latin typeface="+mj-lt"/>
            </a:endParaRPr>
          </a:p>
          <a:p>
            <a:r>
              <a:rPr lang="en-US" b="1" dirty="0">
                <a:latin typeface="+mj-lt"/>
              </a:rPr>
              <a:t>How to access the </a:t>
            </a:r>
            <a:r>
              <a:rPr lang="en-US" b="1" dirty="0" err="1">
                <a:latin typeface="+mj-lt"/>
              </a:rPr>
              <a:t>i</a:t>
            </a:r>
            <a:r>
              <a:rPr lang="en-US" b="1" baseline="30000" dirty="0" err="1">
                <a:latin typeface="+mj-lt"/>
              </a:rPr>
              <a:t>th</a:t>
            </a:r>
            <a:r>
              <a:rPr lang="en-US" b="1" dirty="0">
                <a:latin typeface="+mj-lt"/>
              </a:rPr>
              <a:t> element of the array a?</a:t>
            </a:r>
          </a:p>
          <a:p>
            <a:pPr marL="457200" lvl="1" indent="0">
              <a:buNone/>
            </a:pPr>
            <a:r>
              <a:rPr lang="en-US" sz="2400" b="1" i="1" dirty="0">
                <a:sym typeface="Wingdings" pitchFamily="2" charset="2"/>
              </a:rPr>
              <a:t>a</a:t>
            </a:r>
            <a:r>
              <a:rPr lang="en-US" sz="2400" dirty="0">
                <a:sym typeface="Wingdings" pitchFamily="2" charset="2"/>
              </a:rPr>
              <a:t> is the address of the first element. Based on operation on pointers:</a:t>
            </a:r>
          </a:p>
          <a:p>
            <a:pPr marL="457200" lvl="1" indent="0">
              <a:buNone/>
            </a:pPr>
            <a:r>
              <a:rPr lang="en-US" sz="2400" b="1" dirty="0">
                <a:sym typeface="Wingdings" pitchFamily="2" charset="2"/>
              </a:rPr>
              <a:t></a:t>
            </a:r>
            <a:r>
              <a:rPr lang="en-US" sz="2400" b="1" i="1" dirty="0">
                <a:sym typeface="Wingdings" pitchFamily="2" charset="2"/>
              </a:rPr>
              <a:t> </a:t>
            </a:r>
            <a:r>
              <a:rPr lang="en-US" sz="2400" b="1" i="1" dirty="0" err="1">
                <a:sym typeface="Wingdings" pitchFamily="2" charset="2"/>
              </a:rPr>
              <a:t>a+i</a:t>
            </a:r>
            <a:r>
              <a:rPr lang="en-US" sz="2400" dirty="0">
                <a:sym typeface="Wingdings" pitchFamily="2" charset="2"/>
              </a:rPr>
              <a:t> : address of the </a:t>
            </a:r>
            <a:r>
              <a:rPr lang="en-US" sz="2400" dirty="0" err="1">
                <a:sym typeface="Wingdings" pitchFamily="2" charset="2"/>
              </a:rPr>
              <a:t>i</a:t>
            </a:r>
            <a:r>
              <a:rPr lang="en-US" sz="2400" baseline="30000" dirty="0" err="1">
                <a:sym typeface="Wingdings" pitchFamily="2" charset="2"/>
              </a:rPr>
              <a:t>th</a:t>
            </a:r>
            <a:r>
              <a:rPr lang="en-US" sz="2400" dirty="0">
                <a:sym typeface="Wingdings" pitchFamily="2" charset="2"/>
              </a:rPr>
              <a:t> element, another way: </a:t>
            </a:r>
            <a:r>
              <a:rPr lang="en-US" sz="2400" b="1" i="1" dirty="0">
                <a:sym typeface="Wingdings" pitchFamily="2" charset="2"/>
              </a:rPr>
              <a:t>&amp;a[</a:t>
            </a:r>
            <a:r>
              <a:rPr lang="en-US" sz="2400" b="1" i="1" dirty="0" err="1">
                <a:sym typeface="Wingdings" pitchFamily="2" charset="2"/>
              </a:rPr>
              <a:t>i</a:t>
            </a:r>
            <a:r>
              <a:rPr lang="en-US" sz="2400" b="1" i="1" dirty="0">
                <a:sym typeface="Wingdings" pitchFamily="2" charset="2"/>
              </a:rPr>
              <a:t>]</a:t>
            </a:r>
          </a:p>
          <a:p>
            <a:pPr marL="457200" lvl="1" indent="0">
              <a:buNone/>
            </a:pPr>
            <a:r>
              <a:rPr lang="en-US" b="1" dirty="0">
                <a:sym typeface="Wingdings" pitchFamily="2" charset="2"/>
              </a:rPr>
              <a:t> *(</a:t>
            </a:r>
            <a:r>
              <a:rPr lang="en-US" b="1" dirty="0" err="1">
                <a:sym typeface="Wingdings" pitchFamily="2" charset="2"/>
              </a:rPr>
              <a:t>a+i</a:t>
            </a:r>
            <a:r>
              <a:rPr lang="en-US" b="1" dirty="0">
                <a:sym typeface="Wingdings" pitchFamily="2" charset="2"/>
              </a:rPr>
              <a:t>)</a:t>
            </a:r>
            <a:r>
              <a:rPr lang="en-US" dirty="0">
                <a:sym typeface="Wingdings" pitchFamily="2" charset="2"/>
              </a:rPr>
              <a:t>: value of the </a:t>
            </a:r>
            <a:r>
              <a:rPr lang="en-US" dirty="0" err="1">
                <a:sym typeface="Wingdings" pitchFamily="2" charset="2"/>
              </a:rPr>
              <a:t>i</a:t>
            </a:r>
            <a:r>
              <a:rPr lang="en-US" baseline="30000" dirty="0" err="1">
                <a:sym typeface="Wingdings" pitchFamily="2" charset="2"/>
              </a:rPr>
              <a:t>th</a:t>
            </a:r>
            <a:r>
              <a:rPr lang="en-US" dirty="0">
                <a:sym typeface="Wingdings" pitchFamily="2" charset="2"/>
              </a:rPr>
              <a:t> element, another way: </a:t>
            </a:r>
            <a:r>
              <a:rPr lang="en-US" b="1" i="1" dirty="0">
                <a:sym typeface="Wingdings" pitchFamily="2" charset="2"/>
              </a:rPr>
              <a:t>a[</a:t>
            </a:r>
            <a:r>
              <a:rPr lang="en-US" b="1" i="1" dirty="0" err="1">
                <a:sym typeface="Wingdings" pitchFamily="2" charset="2"/>
              </a:rPr>
              <a:t>i</a:t>
            </a:r>
            <a:r>
              <a:rPr lang="en-US" b="1" i="1" dirty="0">
                <a:sym typeface="Wingdings" pitchFamily="2" charset="2"/>
              </a:rPr>
              <a:t>]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C2A827-D18E-478B-8912-BB8DA9942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6F6758-C30E-4D0B-8E60-640AE64B5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15/10/2025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B11756C-1B81-4CC4-88DD-1D52EABD2821}"/>
              </a:ext>
            </a:extLst>
          </p:cNvPr>
          <p:cNvSpPr/>
          <p:nvPr/>
        </p:nvSpPr>
        <p:spPr>
          <a:xfrm>
            <a:off x="2864889" y="2197923"/>
            <a:ext cx="6644640" cy="50144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 err="1">
                <a:solidFill>
                  <a:srgbClr val="0000CC"/>
                </a:solidFill>
              </a:rPr>
              <a:t>DataType</a:t>
            </a:r>
            <a:r>
              <a:rPr lang="en-US" sz="2400" b="1" dirty="0">
                <a:solidFill>
                  <a:srgbClr val="0000CC"/>
                </a:solidFill>
              </a:rPr>
              <a:t> </a:t>
            </a:r>
            <a:r>
              <a:rPr lang="en-US" sz="2400" b="1" dirty="0">
                <a:solidFill>
                  <a:srgbClr val="B31996"/>
                </a:solidFill>
              </a:rPr>
              <a:t>a[]</a:t>
            </a:r>
            <a:r>
              <a:rPr lang="en-US" sz="2400" b="1" dirty="0">
                <a:solidFill>
                  <a:srgbClr val="0000CC"/>
                </a:solidFill>
              </a:rPr>
              <a:t> </a:t>
            </a:r>
            <a:r>
              <a:rPr lang="en-US" sz="2400" b="1" dirty="0">
                <a:solidFill>
                  <a:schemeClr val="tx1"/>
                </a:solidFill>
              </a:rPr>
              <a:t>=</a:t>
            </a:r>
            <a:r>
              <a:rPr lang="en-US" sz="2400" b="1" dirty="0">
                <a:solidFill>
                  <a:srgbClr val="0000CC"/>
                </a:solidFill>
              </a:rPr>
              <a:t> </a:t>
            </a:r>
            <a:r>
              <a:rPr lang="en-US" sz="2400" b="1" dirty="0">
                <a:solidFill>
                  <a:schemeClr val="tx1"/>
                </a:solidFill>
              </a:rPr>
              <a:t>{</a:t>
            </a:r>
            <a:r>
              <a:rPr lang="en-US" sz="2400" b="1" dirty="0">
                <a:solidFill>
                  <a:srgbClr val="0000CC"/>
                </a:solidFill>
              </a:rPr>
              <a:t>value1, value2, … </a:t>
            </a:r>
            <a:r>
              <a:rPr lang="en-US" sz="2400" b="1" dirty="0">
                <a:solidFill>
                  <a:schemeClr val="tx1"/>
                </a:solidFill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1536019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0DB3E-0653-49E6-AC0F-6C705172B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1-D Arrays: Initialization &amp; Accessing Elements (cont.)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D789BB-EA5C-4109-880A-01EE6DEA6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3FD513-5173-401A-BB71-81E381451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15/10/2025</a:t>
            </a:fld>
            <a:endParaRPr lang="en-US" dirty="0"/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D16975F6-6CCA-4E36-B0FC-8D62C9A2D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20191" y="3880004"/>
            <a:ext cx="5577840" cy="2449193"/>
          </a:xfrm>
          <a:prstGeom prst="rect">
            <a:avLst/>
          </a:prstGeom>
          <a:noFill/>
          <a:ln w="9525">
            <a:solidFill>
              <a:srgbClr val="002060"/>
            </a:solidFill>
            <a:miter lim="800000"/>
            <a:headEnd/>
            <a:tailEnd/>
          </a:ln>
          <a:effectLst/>
        </p:spPr>
      </p:pic>
      <p:pic>
        <p:nvPicPr>
          <p:cNvPr id="14" name="Picture 2">
            <a:extLst>
              <a:ext uri="{FF2B5EF4-FFF2-40B4-BE49-F238E27FC236}">
                <a16:creationId xmlns:a16="http://schemas.microsoft.com/office/drawing/2014/main" id="{03EE588D-B40E-438C-825D-2F7C307A5F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20191" y="1345891"/>
            <a:ext cx="5577840" cy="2353953"/>
          </a:xfrm>
          <a:prstGeom prst="rect">
            <a:avLst/>
          </a:prstGeom>
          <a:noFill/>
          <a:ln w="9525">
            <a:solidFill>
              <a:srgbClr val="002060"/>
            </a:solidFill>
            <a:miter lim="800000"/>
            <a:headEnd/>
            <a:tailEnd/>
          </a:ln>
          <a:effectLst/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2623667B-6401-49A5-9FAF-5968B58C46FE}"/>
              </a:ext>
            </a:extLst>
          </p:cNvPr>
          <p:cNvSpPr/>
          <p:nvPr/>
        </p:nvSpPr>
        <p:spPr>
          <a:xfrm>
            <a:off x="1082040" y="1357632"/>
            <a:ext cx="3291840" cy="1397000"/>
          </a:xfrm>
          <a:prstGeom prst="rect">
            <a:avLst/>
          </a:prstGeom>
          <a:solidFill>
            <a:srgbClr val="00B0F0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Compiler will automatically count number of initial values to determine the size of array memory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34F905D-33D3-4182-889B-187BA5F96C28}"/>
              </a:ext>
            </a:extLst>
          </p:cNvPr>
          <p:cNvSpPr/>
          <p:nvPr/>
        </p:nvSpPr>
        <p:spPr>
          <a:xfrm>
            <a:off x="1076036" y="3189878"/>
            <a:ext cx="3291840" cy="1194346"/>
          </a:xfrm>
          <a:prstGeom prst="rect">
            <a:avLst/>
          </a:prstGeom>
          <a:solidFill>
            <a:schemeClr val="accent2">
              <a:lumMod val="75000"/>
            </a:schemeClr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size of array memory is 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pre-defined.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Compiler will fill 0 to elements which are not initialized.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1588861-FAE7-4C49-B2A2-2663A0A7E938}"/>
              </a:ext>
            </a:extLst>
          </p:cNvPr>
          <p:cNvSpPr/>
          <p:nvPr/>
        </p:nvSpPr>
        <p:spPr>
          <a:xfrm>
            <a:off x="1076036" y="4819471"/>
            <a:ext cx="3291840" cy="1509726"/>
          </a:xfrm>
          <a:prstGeom prst="rect">
            <a:avLst/>
          </a:prstGeom>
          <a:solidFill>
            <a:srgbClr val="FF0066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int  a[5];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Elements contain un-predictable values because they are local variables.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TEST IT !!!!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7716370-A98E-46DB-B5B8-A385E45ED935}"/>
              </a:ext>
            </a:extLst>
          </p:cNvPr>
          <p:cNvCxnSpPr>
            <a:cxnSpLocks/>
          </p:cNvCxnSpPr>
          <p:nvPr/>
        </p:nvCxnSpPr>
        <p:spPr>
          <a:xfrm>
            <a:off x="4367876" y="2144443"/>
            <a:ext cx="1240444" cy="0"/>
          </a:xfrm>
          <a:prstGeom prst="straightConnector1">
            <a:avLst/>
          </a:prstGeom>
          <a:ln w="127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0E8EB46-E947-488B-B2DE-5390BFE51B4C}"/>
              </a:ext>
            </a:extLst>
          </p:cNvPr>
          <p:cNvCxnSpPr>
            <a:cxnSpLocks/>
          </p:cNvCxnSpPr>
          <p:nvPr/>
        </p:nvCxnSpPr>
        <p:spPr>
          <a:xfrm>
            <a:off x="4460240" y="3880004"/>
            <a:ext cx="1219200" cy="782866"/>
          </a:xfrm>
          <a:prstGeom prst="straightConnector1">
            <a:avLst/>
          </a:prstGeom>
          <a:ln w="127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65753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B6851-EF4B-4BC9-BD95-BAE925BDC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1-D Arrays: Traversing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F8FFA5-ABD5-4011-8750-9387976FF2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4236" y="1278538"/>
            <a:ext cx="11085946" cy="5122712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200" dirty="0"/>
              <a:t>A way to visit each element of an array</a:t>
            </a:r>
          </a:p>
          <a:p>
            <a:pPr>
              <a:lnSpc>
                <a:spcPct val="100000"/>
              </a:lnSpc>
            </a:pPr>
            <a:r>
              <a:rPr lang="en-US" sz="2200" dirty="0"/>
              <a:t>Suppose that the 1-D array, named </a:t>
            </a:r>
            <a:r>
              <a:rPr lang="en-US" sz="2200" b="1" dirty="0"/>
              <a:t>a</a:t>
            </a:r>
            <a:r>
              <a:rPr lang="en-US" sz="2200" dirty="0"/>
              <a:t>, containing </a:t>
            </a:r>
            <a:r>
              <a:rPr lang="en-US" sz="2200" b="1" dirty="0"/>
              <a:t>n</a:t>
            </a:r>
            <a:r>
              <a:rPr lang="en-US" sz="2200" dirty="0"/>
              <a:t> elements.</a:t>
            </a:r>
          </a:p>
          <a:p>
            <a:pPr>
              <a:lnSpc>
                <a:spcPct val="100000"/>
              </a:lnSpc>
            </a:pPr>
            <a:r>
              <a:rPr lang="en-US" sz="2200" b="1" dirty="0"/>
              <a:t>Forward traversal</a:t>
            </a:r>
            <a:r>
              <a:rPr lang="en-US" sz="2200" dirty="0"/>
              <a:t>:</a:t>
            </a:r>
          </a:p>
          <a:p>
            <a:pPr marL="0" indent="0">
              <a:buNone/>
            </a:pPr>
            <a:endParaRPr lang="en-US" sz="2200" dirty="0"/>
          </a:p>
          <a:p>
            <a:endParaRPr lang="en-US" sz="2200" dirty="0"/>
          </a:p>
          <a:p>
            <a:endParaRPr lang="en-US" sz="2000" dirty="0"/>
          </a:p>
          <a:p>
            <a:r>
              <a:rPr lang="en-US" sz="2200" b="1" dirty="0"/>
              <a:t>Backward traversal: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8B061C-5E30-4AB9-9216-627295F51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9E50E2-717D-4934-831C-11F392DE3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15/10/2025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7C6B997-DD65-41A1-B1A1-0DE9CFF89911}"/>
              </a:ext>
            </a:extLst>
          </p:cNvPr>
          <p:cNvSpPr/>
          <p:nvPr/>
        </p:nvSpPr>
        <p:spPr>
          <a:xfrm>
            <a:off x="1137920" y="2722881"/>
            <a:ext cx="10409844" cy="143255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None/>
            </a:pPr>
            <a:r>
              <a:rPr lang="en-US" sz="2200" dirty="0"/>
              <a:t>int </a:t>
            </a:r>
            <a:r>
              <a:rPr lang="en-US" sz="2200" dirty="0" err="1"/>
              <a:t>i</a:t>
            </a:r>
            <a:r>
              <a:rPr lang="en-US" sz="2200" dirty="0"/>
              <a:t>;</a:t>
            </a:r>
          </a:p>
          <a:p>
            <a:pPr>
              <a:buNone/>
            </a:pPr>
            <a:r>
              <a:rPr lang="en-US" sz="2200" dirty="0"/>
              <a:t>for (</a:t>
            </a:r>
            <a:r>
              <a:rPr lang="en-US" sz="2200" dirty="0" err="1"/>
              <a:t>i</a:t>
            </a:r>
            <a:r>
              <a:rPr lang="en-US" sz="2200" dirty="0"/>
              <a:t>=0; </a:t>
            </a:r>
            <a:r>
              <a:rPr lang="en-US" sz="2200" dirty="0" err="1"/>
              <a:t>i</a:t>
            </a:r>
            <a:r>
              <a:rPr lang="en-US" sz="2200" dirty="0"/>
              <a:t>&lt;n; </a:t>
            </a:r>
            <a:r>
              <a:rPr lang="en-US" sz="2200" dirty="0" err="1"/>
              <a:t>i</a:t>
            </a:r>
            <a:r>
              <a:rPr lang="en-US" sz="2200" dirty="0"/>
              <a:t>++){   </a:t>
            </a:r>
          </a:p>
          <a:p>
            <a:pPr>
              <a:buNone/>
            </a:pPr>
            <a:r>
              <a:rPr lang="en-US" sz="2200" dirty="0">
                <a:solidFill>
                  <a:srgbClr val="0000FF"/>
                </a:solidFill>
              </a:rPr>
              <a:t>	</a:t>
            </a:r>
            <a:r>
              <a:rPr lang="en-US" sz="2200" dirty="0">
                <a:solidFill>
                  <a:srgbClr val="0000CC"/>
                </a:solidFill>
              </a:rPr>
              <a:t>[if (condition)] </a:t>
            </a:r>
            <a:r>
              <a:rPr lang="en-US" sz="2200" dirty="0"/>
              <a:t>Access a[</a:t>
            </a:r>
            <a:r>
              <a:rPr lang="en-US" sz="2200" dirty="0" err="1"/>
              <a:t>i</a:t>
            </a:r>
            <a:r>
              <a:rPr lang="en-US" sz="2200" dirty="0"/>
              <a:t>];</a:t>
            </a:r>
          </a:p>
          <a:p>
            <a:pPr>
              <a:buNone/>
            </a:pPr>
            <a:r>
              <a:rPr lang="en-US" sz="2200" dirty="0"/>
              <a:t>}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80B9A0-BC24-47F3-BF22-84B8BBD71BDC}"/>
              </a:ext>
            </a:extLst>
          </p:cNvPr>
          <p:cNvSpPr/>
          <p:nvPr/>
        </p:nvSpPr>
        <p:spPr>
          <a:xfrm>
            <a:off x="1137920" y="4903823"/>
            <a:ext cx="10409844" cy="143255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None/>
            </a:pPr>
            <a:r>
              <a:rPr lang="en-US" sz="2200" dirty="0"/>
              <a:t>int </a:t>
            </a:r>
            <a:r>
              <a:rPr lang="en-US" sz="2200" dirty="0" err="1"/>
              <a:t>i</a:t>
            </a:r>
            <a:r>
              <a:rPr lang="en-US" sz="2200" dirty="0"/>
              <a:t>;</a:t>
            </a:r>
          </a:p>
          <a:p>
            <a:pPr>
              <a:buNone/>
            </a:pPr>
            <a:r>
              <a:rPr lang="en-US" sz="2200" dirty="0"/>
              <a:t>for (</a:t>
            </a:r>
            <a:r>
              <a:rPr lang="en-US" sz="2200" dirty="0" err="1"/>
              <a:t>i</a:t>
            </a:r>
            <a:r>
              <a:rPr lang="en-US" sz="2200" dirty="0"/>
              <a:t>=n-1; </a:t>
            </a:r>
            <a:r>
              <a:rPr lang="en-US" sz="2200" dirty="0" err="1"/>
              <a:t>i</a:t>
            </a:r>
            <a:r>
              <a:rPr lang="en-US" sz="2200" dirty="0"/>
              <a:t>&gt;=0; </a:t>
            </a:r>
            <a:r>
              <a:rPr lang="en-US" sz="2200" dirty="0" err="1"/>
              <a:t>i</a:t>
            </a:r>
            <a:r>
              <a:rPr lang="en-US" sz="2200" dirty="0"/>
              <a:t>--){   </a:t>
            </a:r>
          </a:p>
          <a:p>
            <a:pPr>
              <a:buNone/>
            </a:pPr>
            <a:r>
              <a:rPr lang="en-US" sz="2200" dirty="0">
                <a:solidFill>
                  <a:srgbClr val="0000FF"/>
                </a:solidFill>
              </a:rPr>
              <a:t>	[if (condition)] </a:t>
            </a:r>
            <a:r>
              <a:rPr lang="en-US" sz="2200" dirty="0"/>
              <a:t>Access a[</a:t>
            </a:r>
            <a:r>
              <a:rPr lang="en-US" sz="2200" dirty="0" err="1"/>
              <a:t>i</a:t>
            </a:r>
            <a:r>
              <a:rPr lang="en-US" sz="2200" dirty="0"/>
              <a:t>];</a:t>
            </a:r>
          </a:p>
          <a:p>
            <a:pPr>
              <a:buNone/>
            </a:pPr>
            <a:r>
              <a:rPr lang="en-US" sz="22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436411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C6F44-67BE-4BF2-BAD9-C2A07EA9A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1-D Array is a Function Parameter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7A2248-9B8B-4239-9A77-CA73659656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200" dirty="0"/>
              <a:t>The array parameter of a function is the pointer of the first element of the array.</a:t>
            </a:r>
          </a:p>
          <a:p>
            <a:r>
              <a:rPr lang="en-US" sz="2200" dirty="0"/>
              <a:t>Example 1: </a:t>
            </a:r>
          </a:p>
          <a:p>
            <a:pPr lvl="1"/>
            <a:r>
              <a:rPr lang="en-US" dirty="0"/>
              <a:t>Input an array of n integers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</a:t>
            </a:r>
            <a:r>
              <a:rPr lang="en-US" b="1" dirty="0">
                <a:solidFill>
                  <a:srgbClr val="0000CC"/>
                </a:solidFill>
                <a:sym typeface="Wingdings" panose="05000000000000000000" pitchFamily="2" charset="2"/>
              </a:rPr>
              <a:t>void input (int* a, int n)</a:t>
            </a:r>
          </a:p>
          <a:p>
            <a:r>
              <a:rPr lang="en-US" sz="2200" dirty="0"/>
              <a:t>Example 2: </a:t>
            </a:r>
          </a:p>
          <a:p>
            <a:pPr lvl="1"/>
            <a:r>
              <a:rPr lang="en-US" dirty="0"/>
              <a:t>Input elements of an array of integers which it’s number of element is stored at the pointer </a:t>
            </a:r>
            <a:r>
              <a:rPr lang="en-US" b="1" dirty="0" err="1"/>
              <a:t>pn</a:t>
            </a:r>
            <a:r>
              <a:rPr lang="en-US" b="1" dirty="0"/>
              <a:t>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b="1" dirty="0">
                <a:solidFill>
                  <a:srgbClr val="0000CC"/>
                </a:solidFill>
                <a:sym typeface="Wingdings" panose="05000000000000000000" pitchFamily="2" charset="2"/>
              </a:rPr>
              <a:t>void input (int a[], int*</a:t>
            </a:r>
            <a:r>
              <a:rPr lang="en-US" b="1" dirty="0" err="1">
                <a:solidFill>
                  <a:srgbClr val="0000CC"/>
                </a:solidFill>
                <a:sym typeface="Wingdings" panose="05000000000000000000" pitchFamily="2" charset="2"/>
              </a:rPr>
              <a:t>pn</a:t>
            </a:r>
            <a:r>
              <a:rPr lang="en-US" b="1" dirty="0">
                <a:solidFill>
                  <a:srgbClr val="0000CC"/>
                </a:solidFill>
                <a:sym typeface="Wingdings" panose="05000000000000000000" pitchFamily="2" charset="2"/>
              </a:rPr>
              <a:t>)</a:t>
            </a:r>
          </a:p>
          <a:p>
            <a:r>
              <a:rPr lang="en-US" sz="2200" dirty="0">
                <a:sym typeface="Wingdings" panose="05000000000000000000" pitchFamily="2" charset="2"/>
              </a:rPr>
              <a:t>Example 3: </a:t>
            </a:r>
          </a:p>
          <a:p>
            <a:pPr lvl="1"/>
            <a:r>
              <a:rPr lang="en-US" dirty="0"/>
              <a:t>Calculate the sum of an array of n integers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b="1" dirty="0">
                <a:solidFill>
                  <a:srgbClr val="0000CC"/>
                </a:solidFill>
              </a:rPr>
              <a:t>int sum (int *a, int n)</a:t>
            </a:r>
            <a:endParaRPr lang="en-US" b="1" dirty="0">
              <a:solidFill>
                <a:srgbClr val="0000CC"/>
              </a:solidFill>
              <a:sym typeface="Wingdings" panose="05000000000000000000" pitchFamily="2" charset="2"/>
            </a:endParaRPr>
          </a:p>
          <a:p>
            <a:r>
              <a:rPr lang="en-US" sz="2200" dirty="0"/>
              <a:t>Example 4:</a:t>
            </a:r>
          </a:p>
          <a:p>
            <a:pPr lvl="1"/>
            <a:r>
              <a:rPr lang="en-US" dirty="0"/>
              <a:t>Output an array of n double numbers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b="1" dirty="0">
                <a:solidFill>
                  <a:srgbClr val="0000CC"/>
                </a:solidFill>
              </a:rPr>
              <a:t>void output (double a[], int n)</a:t>
            </a:r>
            <a:endParaRPr lang="en-US" dirty="0">
              <a:solidFill>
                <a:srgbClr val="0000CC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81BD00-91B3-47F8-BA08-0CB35F63A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D200B5-1EA7-49E8-9C21-E81D667CE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15/10/2025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8992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C6F44-67BE-4BF2-BAD9-C2A07EA9A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1-D Array is a Function Parameter: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7A2248-9B8B-4239-9A77-CA73659656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Demo 1: Develop a C-program that will:</a:t>
            </a:r>
          </a:p>
          <a:p>
            <a:pPr lvl="1"/>
            <a:r>
              <a:rPr lang="en-US" dirty="0"/>
              <a:t>Accept values to an integer array that may contain 100 elements.</a:t>
            </a:r>
          </a:p>
          <a:p>
            <a:pPr lvl="1"/>
            <a:r>
              <a:rPr lang="en-US" dirty="0"/>
              <a:t>Print out the it’s maximum value.</a:t>
            </a:r>
          </a:p>
          <a:p>
            <a:pPr lvl="1"/>
            <a:r>
              <a:rPr lang="en-US" dirty="0"/>
              <a:t>Print out it’s elements.</a:t>
            </a:r>
          </a:p>
          <a:p>
            <a:pPr lvl="1"/>
            <a:r>
              <a:rPr lang="en-US" dirty="0"/>
              <a:t>Print out it’s even values.</a:t>
            </a:r>
          </a:p>
          <a:p>
            <a:r>
              <a:rPr lang="en-US" i="1" dirty="0"/>
              <a:t>Hint</a:t>
            </a:r>
            <a:r>
              <a:rPr lang="en-US" dirty="0">
                <a:solidFill>
                  <a:srgbClr val="0000CC"/>
                </a:solidFill>
              </a:rPr>
              <a:t>: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81BD00-91B3-47F8-BA08-0CB35F63A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D200B5-1EA7-49E8-9C21-E81D667CE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15/10/2025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E5ACD1B-6605-427B-ABCD-663E26C88049}"/>
              </a:ext>
            </a:extLst>
          </p:cNvPr>
          <p:cNvSpPr txBox="1">
            <a:spLocks/>
          </p:cNvSpPr>
          <p:nvPr/>
        </p:nvSpPr>
        <p:spPr>
          <a:xfrm>
            <a:off x="1813560" y="4031821"/>
            <a:ext cx="5074920" cy="26314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000" b="1" i="0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Times New Roman" pitchFamily="18" charset="0"/>
              </a:rPr>
              <a:t>Nouns: </a:t>
            </a:r>
          </a:p>
          <a:p>
            <a:pPr marL="463550" marR="0" lvl="1" indent="-63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Times New Roman" pitchFamily="18" charset="0"/>
              </a:rPr>
              <a:t> Constant: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j-lt"/>
                <a:ea typeface="+mn-ea"/>
                <a:cs typeface="Times New Roman" pitchFamily="18" charset="0"/>
              </a:rPr>
              <a:t>MAXN=100</a:t>
            </a:r>
          </a:p>
          <a:p>
            <a:pPr marL="463550" marR="0" lvl="1" indent="-63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Times New Roman" pitchFamily="18" charset="0"/>
              </a:rPr>
              <a:t> Static array of integers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Times New Roman" pitchFamily="18" charset="0"/>
                <a:sym typeface="Wingdings" pitchFamily="2" charset="2"/>
              </a:rPr>
              <a:t>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j-lt"/>
                <a:ea typeface="+mn-ea"/>
                <a:cs typeface="Times New Roman" pitchFamily="18" charset="0"/>
                <a:sym typeface="Wingdings" pitchFamily="2" charset="2"/>
              </a:rPr>
              <a:t>int a[MAXN]</a:t>
            </a:r>
          </a:p>
          <a:p>
            <a:pPr marL="463550" marR="0" lvl="1" indent="-63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Times New Roman" pitchFamily="18" charset="0"/>
                <a:sym typeface="Wingdings" pitchFamily="2" charset="2"/>
              </a:rPr>
              <a:t> Real number of elements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j-lt"/>
                <a:ea typeface="+mn-ea"/>
                <a:cs typeface="Times New Roman" pitchFamily="18" charset="0"/>
                <a:sym typeface="Wingdings" pitchFamily="2" charset="2"/>
              </a:rPr>
              <a:t> int n</a:t>
            </a:r>
          </a:p>
          <a:p>
            <a:pPr marL="463550" marR="0" lvl="1" indent="-63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Times New Roman" pitchFamily="18" charset="0"/>
                <a:sym typeface="Wingdings" pitchFamily="2" charset="2"/>
              </a:rPr>
              <a:t> Maximum value 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j-lt"/>
                <a:ea typeface="+mn-ea"/>
                <a:cs typeface="Times New Roman" pitchFamily="18" charset="0"/>
                <a:sym typeface="Wingdings" pitchFamily="2" charset="2"/>
              </a:rPr>
              <a:t>int maxVal.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CC086C2-90C4-4404-8DF7-2F555173C978}"/>
              </a:ext>
            </a:extLst>
          </p:cNvPr>
          <p:cNvSpPr txBox="1">
            <a:spLocks/>
          </p:cNvSpPr>
          <p:nvPr/>
        </p:nvSpPr>
        <p:spPr>
          <a:xfrm>
            <a:off x="6187209" y="3097737"/>
            <a:ext cx="6004791" cy="3200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6350" indent="-6350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1900" b="1" dirty="0">
                <a:solidFill>
                  <a:prstClr val="black"/>
                </a:solidFill>
                <a:latin typeface="+mj-lt"/>
                <a:cs typeface="Times New Roman" pitchFamily="18" charset="0"/>
                <a:sym typeface="Wingdings" pitchFamily="2" charset="2"/>
              </a:rPr>
              <a:t> Verbs:</a:t>
            </a:r>
          </a:p>
          <a:p>
            <a:pPr marL="463550" lvl="1" indent="-6350">
              <a:spcBef>
                <a:spcPct val="20000"/>
              </a:spcBef>
              <a:buFontTx/>
              <a:buChar char="-"/>
            </a:pPr>
            <a:r>
              <a:rPr lang="en-US" sz="1900" dirty="0">
                <a:solidFill>
                  <a:prstClr val="black"/>
                </a:solidFill>
                <a:latin typeface="+mj-lt"/>
                <a:cs typeface="Times New Roman" pitchFamily="18" charset="0"/>
                <a:sym typeface="Wingdings" pitchFamily="2" charset="2"/>
              </a:rPr>
              <a:t> Begin</a:t>
            </a:r>
          </a:p>
          <a:p>
            <a:pPr marL="463550" lvl="1" indent="-6350">
              <a:spcBef>
                <a:spcPct val="20000"/>
              </a:spcBef>
              <a:buFontTx/>
              <a:buChar char="-"/>
            </a:pPr>
            <a:r>
              <a:rPr lang="en-US" sz="1900" dirty="0">
                <a:solidFill>
                  <a:prstClr val="black"/>
                </a:solidFill>
                <a:latin typeface="+mj-lt"/>
                <a:cs typeface="Times New Roman" pitchFamily="18" charset="0"/>
                <a:sym typeface="Wingdings" pitchFamily="2" charset="2"/>
              </a:rPr>
              <a:t> Input n (one value)</a:t>
            </a:r>
          </a:p>
          <a:p>
            <a:pPr marL="463550" lvl="1" indent="-6350">
              <a:spcBef>
                <a:spcPct val="20000"/>
              </a:spcBef>
              <a:buFontTx/>
              <a:buChar char="-"/>
            </a:pPr>
            <a:r>
              <a:rPr lang="en-US" sz="1900" dirty="0">
                <a:solidFill>
                  <a:prstClr val="black"/>
                </a:solidFill>
                <a:latin typeface="+mj-lt"/>
                <a:cs typeface="Times New Roman" pitchFamily="18" charset="0"/>
                <a:sym typeface="Wingdings" pitchFamily="2" charset="2"/>
              </a:rPr>
              <a:t> Input  a, n (</a:t>
            </a:r>
            <a:r>
              <a:rPr lang="en-US" sz="1900" b="1" dirty="0">
                <a:solidFill>
                  <a:prstClr val="black"/>
                </a:solidFill>
                <a:latin typeface="+mj-lt"/>
                <a:cs typeface="Times New Roman" pitchFamily="18" charset="0"/>
                <a:sym typeface="Wingdings" pitchFamily="2" charset="2"/>
              </a:rPr>
              <a:t>function</a:t>
            </a:r>
            <a:r>
              <a:rPr lang="en-US" sz="1900" dirty="0">
                <a:solidFill>
                  <a:prstClr val="black"/>
                </a:solidFill>
                <a:latin typeface="+mj-lt"/>
                <a:cs typeface="Times New Roman" pitchFamily="18" charset="0"/>
                <a:sym typeface="Wingdings" pitchFamily="2" charset="2"/>
              </a:rPr>
              <a:t>)</a:t>
            </a:r>
          </a:p>
          <a:p>
            <a:pPr marL="463550" lvl="1" indent="-6350">
              <a:spcBef>
                <a:spcPct val="20000"/>
              </a:spcBef>
              <a:buFontTx/>
              <a:buChar char="-"/>
            </a:pPr>
            <a:r>
              <a:rPr lang="en-US" sz="1900" dirty="0">
                <a:solidFill>
                  <a:prstClr val="black"/>
                </a:solidFill>
                <a:latin typeface="+mj-lt"/>
                <a:cs typeface="Times New Roman" pitchFamily="18" charset="0"/>
                <a:sym typeface="Wingdings" pitchFamily="2" charset="2"/>
              </a:rPr>
              <a:t> maxVal = get maximum value in a, n (</a:t>
            </a:r>
            <a:r>
              <a:rPr lang="en-US" sz="1900" b="1" dirty="0">
                <a:solidFill>
                  <a:prstClr val="black"/>
                </a:solidFill>
                <a:latin typeface="+mj-lt"/>
                <a:cs typeface="Times New Roman" pitchFamily="18" charset="0"/>
                <a:sym typeface="Wingdings" pitchFamily="2" charset="2"/>
              </a:rPr>
              <a:t>function</a:t>
            </a:r>
            <a:r>
              <a:rPr lang="en-US" sz="1900" dirty="0">
                <a:solidFill>
                  <a:prstClr val="black"/>
                </a:solidFill>
                <a:latin typeface="+mj-lt"/>
                <a:cs typeface="Times New Roman" pitchFamily="18" charset="0"/>
                <a:sym typeface="Wingdings" pitchFamily="2" charset="2"/>
              </a:rPr>
              <a:t>)</a:t>
            </a:r>
          </a:p>
          <a:p>
            <a:pPr marL="463550" lvl="1" indent="-6350">
              <a:spcBef>
                <a:spcPct val="20000"/>
              </a:spcBef>
              <a:buFontTx/>
              <a:buChar char="-"/>
            </a:pPr>
            <a:r>
              <a:rPr lang="en-US" sz="1900" dirty="0">
                <a:solidFill>
                  <a:prstClr val="black"/>
                </a:solidFill>
                <a:latin typeface="+mj-lt"/>
                <a:cs typeface="Times New Roman" pitchFamily="18" charset="0"/>
                <a:sym typeface="Wingdings" pitchFamily="2" charset="2"/>
              </a:rPr>
              <a:t> Print out maxVal (one value)</a:t>
            </a:r>
          </a:p>
          <a:p>
            <a:pPr marL="463550" lvl="1" indent="-6350">
              <a:spcBef>
                <a:spcPct val="20000"/>
              </a:spcBef>
              <a:buFontTx/>
              <a:buChar char="-"/>
            </a:pPr>
            <a:r>
              <a:rPr lang="en-US" sz="1900" dirty="0">
                <a:solidFill>
                  <a:prstClr val="black"/>
                </a:solidFill>
                <a:latin typeface="+mj-lt"/>
                <a:cs typeface="Times New Roman" pitchFamily="18" charset="0"/>
                <a:sym typeface="Wingdings" pitchFamily="2" charset="2"/>
              </a:rPr>
              <a:t> Print out a, n (</a:t>
            </a:r>
            <a:r>
              <a:rPr lang="en-US" sz="1900" b="1" dirty="0">
                <a:solidFill>
                  <a:prstClr val="black"/>
                </a:solidFill>
                <a:latin typeface="+mj-lt"/>
                <a:cs typeface="Times New Roman" pitchFamily="18" charset="0"/>
                <a:sym typeface="Wingdings" pitchFamily="2" charset="2"/>
              </a:rPr>
              <a:t>function</a:t>
            </a:r>
            <a:r>
              <a:rPr lang="en-US" sz="1900" dirty="0">
                <a:solidFill>
                  <a:prstClr val="black"/>
                </a:solidFill>
                <a:latin typeface="+mj-lt"/>
                <a:cs typeface="Times New Roman" pitchFamily="18" charset="0"/>
                <a:sym typeface="Wingdings" pitchFamily="2" charset="2"/>
              </a:rPr>
              <a:t>)</a:t>
            </a:r>
          </a:p>
          <a:p>
            <a:pPr marL="463550" lvl="1" indent="-6350">
              <a:spcBef>
                <a:spcPct val="20000"/>
              </a:spcBef>
              <a:buFontTx/>
              <a:buChar char="-"/>
            </a:pPr>
            <a:r>
              <a:rPr lang="en-US" sz="1900" dirty="0">
                <a:solidFill>
                  <a:prstClr val="black"/>
                </a:solidFill>
                <a:latin typeface="+mj-lt"/>
                <a:cs typeface="Times New Roman" pitchFamily="18" charset="0"/>
                <a:sym typeface="Wingdings" pitchFamily="2" charset="2"/>
              </a:rPr>
              <a:t> Print even values in a, n (</a:t>
            </a:r>
            <a:r>
              <a:rPr lang="en-US" sz="1900" b="1" dirty="0">
                <a:solidFill>
                  <a:prstClr val="black"/>
                </a:solidFill>
                <a:latin typeface="+mj-lt"/>
                <a:cs typeface="Times New Roman" pitchFamily="18" charset="0"/>
                <a:sym typeface="Wingdings" pitchFamily="2" charset="2"/>
              </a:rPr>
              <a:t>function</a:t>
            </a:r>
            <a:r>
              <a:rPr lang="en-US" sz="1900" dirty="0">
                <a:solidFill>
                  <a:prstClr val="black"/>
                </a:solidFill>
                <a:latin typeface="+mj-lt"/>
                <a:cs typeface="Times New Roman" pitchFamily="18" charset="0"/>
                <a:sym typeface="Wingdings" pitchFamily="2" charset="2"/>
              </a:rPr>
              <a:t>)</a:t>
            </a:r>
          </a:p>
          <a:p>
            <a:pPr marL="463550" lvl="1" indent="-6350">
              <a:spcBef>
                <a:spcPct val="20000"/>
              </a:spcBef>
              <a:buFontTx/>
              <a:buChar char="-"/>
            </a:pPr>
            <a:r>
              <a:rPr lang="en-US" sz="1900" dirty="0">
                <a:solidFill>
                  <a:prstClr val="black"/>
                </a:solidFill>
                <a:latin typeface="+mj-lt"/>
                <a:cs typeface="Times New Roman" pitchFamily="18" charset="0"/>
                <a:sym typeface="Wingdings" pitchFamily="2" charset="2"/>
              </a:rPr>
              <a:t> End</a:t>
            </a:r>
            <a:endParaRPr lang="en-US" sz="1900" dirty="0">
              <a:solidFill>
                <a:prstClr val="black"/>
              </a:solidFill>
              <a:latin typeface="+mj-lt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33925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A674C-A5E6-465F-9A60-52EA2C003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8156" y="12176"/>
            <a:ext cx="6366164" cy="468797"/>
          </a:xfrm>
        </p:spPr>
        <p:txBody>
          <a:bodyPr/>
          <a:lstStyle/>
          <a:p>
            <a:r>
              <a:rPr lang="en-US" sz="2500" dirty="0"/>
              <a:t>Array </a:t>
            </a:r>
            <a:r>
              <a:rPr lang="en-US" sz="2500" dirty="0" err="1"/>
              <a:t>Funtion</a:t>
            </a:r>
            <a:r>
              <a:rPr lang="en-US" sz="2500" dirty="0"/>
              <a:t> Parameter: Demo 1 (cont.)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6300FB-30E2-421C-B6FA-83C298EE6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6B1272-C48B-4987-BC25-BD41614D0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15/10/2025</a:t>
            </a:fld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FB04D42-5ABE-4148-A4FC-053772213F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123" y="676689"/>
            <a:ext cx="7163118" cy="332709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7B42A66-191A-4EA7-8D22-2DD22B5299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123" y="4003779"/>
            <a:ext cx="7163118" cy="238280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77E7BDE-7582-4FCD-A5EC-E7C3B79658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4071" y="975360"/>
            <a:ext cx="4430806" cy="2146299"/>
          </a:xfrm>
          <a:prstGeom prst="rect">
            <a:avLst/>
          </a:prstGeom>
          <a:ln>
            <a:solidFill>
              <a:srgbClr val="002060"/>
            </a:solidFill>
          </a:ln>
        </p:spPr>
      </p:pic>
    </p:spTree>
    <p:extLst>
      <p:ext uri="{BB962C8B-B14F-4D97-AF65-F5344CB8AC3E}">
        <p14:creationId xmlns:p14="http://schemas.microsoft.com/office/powerpoint/2010/main" val="14309775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6300FB-30E2-421C-B6FA-83C298EE6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6B1272-C48B-4987-BC25-BD41614D0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15/10/2025</a:t>
            </a:fld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98E9ABD-971D-492E-BFF2-EC8041214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8156" y="12176"/>
            <a:ext cx="6366164" cy="468797"/>
          </a:xfrm>
        </p:spPr>
        <p:txBody>
          <a:bodyPr/>
          <a:lstStyle/>
          <a:p>
            <a:r>
              <a:rPr lang="en-US" sz="2500" dirty="0"/>
              <a:t>Array </a:t>
            </a:r>
            <a:r>
              <a:rPr lang="en-US" sz="2500" dirty="0" err="1"/>
              <a:t>Funtion</a:t>
            </a:r>
            <a:r>
              <a:rPr lang="en-US" sz="2500" dirty="0"/>
              <a:t> Parameter: Demo 1 (cont.)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82089C4-C26A-47DA-8303-D29A511A2C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840" y="688687"/>
            <a:ext cx="6019800" cy="3626582"/>
          </a:xfrm>
          <a:prstGeom prst="rect">
            <a:avLst/>
          </a:prstGeom>
          <a:ln>
            <a:solidFill>
              <a:srgbClr val="002060"/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447B020-DABA-4E64-9F4F-F976E3621B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1440" y="2867406"/>
            <a:ext cx="6543040" cy="3502660"/>
          </a:xfrm>
          <a:prstGeom prst="rect">
            <a:avLst/>
          </a:prstGeom>
          <a:ln>
            <a:solidFill>
              <a:srgbClr val="002060"/>
            </a:solidFill>
          </a:ln>
        </p:spPr>
      </p:pic>
    </p:spTree>
    <p:extLst>
      <p:ext uri="{BB962C8B-B14F-4D97-AF65-F5344CB8AC3E}">
        <p14:creationId xmlns:p14="http://schemas.microsoft.com/office/powerpoint/2010/main" val="4197408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DF0E3-D2AB-4874-8AC0-0C3215DCA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 Function Parameter: Demo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399E8-654B-4724-A822-2A21113362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FF0000"/>
                </a:solidFill>
              </a:rPr>
              <a:t>Problems: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If you allocate an array having 100 elements but 6 elements are used then memory is wasted.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If you allocate an array having 100 elements but 101 elements are used then there is a lack of memory.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000FF"/>
                </a:solidFill>
              </a:rPr>
              <a:t>Solution: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Use a dynamic array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Can expand the size of the original array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B13B56-2214-40B6-BD97-A3B527862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0945A5-C874-4334-9E48-73F2D070B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15/10/2025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71684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A674C-A5E6-465F-9A60-52EA2C003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6954" y="12176"/>
            <a:ext cx="5957365" cy="468797"/>
          </a:xfrm>
        </p:spPr>
        <p:txBody>
          <a:bodyPr/>
          <a:lstStyle/>
          <a:p>
            <a:r>
              <a:rPr lang="en-US" sz="2500" dirty="0"/>
              <a:t>Array </a:t>
            </a:r>
            <a:r>
              <a:rPr lang="en-US" sz="2500" dirty="0" err="1"/>
              <a:t>Funtion</a:t>
            </a:r>
            <a:r>
              <a:rPr lang="en-US" sz="2500" dirty="0"/>
              <a:t> Parameter: Solution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6300FB-30E2-421C-B6FA-83C298EE6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6B1272-C48B-4987-BC25-BD41614D0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15/10/2025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8E41271-5901-40C0-9182-24F4ADFAA9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6735" y="768360"/>
            <a:ext cx="8878530" cy="5596583"/>
          </a:xfrm>
          <a:prstGeom prst="rect">
            <a:avLst/>
          </a:prstGeom>
        </p:spPr>
      </p:pic>
      <p:sp>
        <p:nvSpPr>
          <p:cNvPr id="26" name="Oval 25">
            <a:extLst>
              <a:ext uri="{FF2B5EF4-FFF2-40B4-BE49-F238E27FC236}">
                <a16:creationId xmlns:a16="http://schemas.microsoft.com/office/drawing/2014/main" id="{E3BB63EC-64F5-4235-95F7-7204D6FF1CF8}"/>
              </a:ext>
            </a:extLst>
          </p:cNvPr>
          <p:cNvSpPr/>
          <p:nvPr/>
        </p:nvSpPr>
        <p:spPr>
          <a:xfrm>
            <a:off x="7894319" y="1691148"/>
            <a:ext cx="3264310" cy="796413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Use Dynamic Array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208C4B0-DA6F-4048-A17B-200AF4FC3C39}"/>
              </a:ext>
            </a:extLst>
          </p:cNvPr>
          <p:cNvCxnSpPr>
            <a:cxnSpLocks/>
            <a:stCxn id="26" idx="3"/>
          </p:cNvCxnSpPr>
          <p:nvPr/>
        </p:nvCxnSpPr>
        <p:spPr>
          <a:xfrm flipH="1">
            <a:off x="3264312" y="2370929"/>
            <a:ext cx="5108054" cy="677071"/>
          </a:xfrm>
          <a:prstGeom prst="straightConnector1">
            <a:avLst/>
          </a:prstGeom>
          <a:ln w="28575">
            <a:solidFill>
              <a:srgbClr val="008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01399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A674C-A5E6-465F-9A60-52EA2C003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2400" y="159661"/>
            <a:ext cx="3539613" cy="468797"/>
          </a:xfrm>
        </p:spPr>
        <p:txBody>
          <a:bodyPr/>
          <a:lstStyle/>
          <a:p>
            <a:r>
              <a:rPr lang="en-US" sz="3500" dirty="0"/>
              <a:t>Solution (cont.)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6300FB-30E2-421C-B6FA-83C298EE6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6B1272-C48B-4987-BC25-BD41614D0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15/10/2025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9C157A-663F-4C46-83EE-961F092BD3D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8343"/>
          <a:stretch/>
        </p:blipFill>
        <p:spPr>
          <a:xfrm>
            <a:off x="399033" y="805439"/>
            <a:ext cx="6153426" cy="3385405"/>
          </a:xfrm>
          <a:prstGeom prst="rect">
            <a:avLst/>
          </a:prstGeom>
          <a:ln>
            <a:solidFill>
              <a:srgbClr val="002060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C20C10F-747E-4D0C-AF80-8BE518CEC87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1649"/>
          <a:stretch/>
        </p:blipFill>
        <p:spPr>
          <a:xfrm>
            <a:off x="4249103" y="3599413"/>
            <a:ext cx="7685690" cy="2630129"/>
          </a:xfrm>
          <a:prstGeom prst="rect">
            <a:avLst/>
          </a:prstGeom>
          <a:ln>
            <a:solidFill>
              <a:srgbClr val="002060"/>
            </a:solidFill>
          </a:ln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433F5D87-D7EE-45B1-9ACE-E32AA1233E23}"/>
              </a:ext>
            </a:extLst>
          </p:cNvPr>
          <p:cNvSpPr/>
          <p:nvPr/>
        </p:nvSpPr>
        <p:spPr>
          <a:xfrm>
            <a:off x="7894318" y="1396182"/>
            <a:ext cx="3534941" cy="109138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Expand the size of the original array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1320CEB-9FCD-4377-ACCC-17E466B15707}"/>
              </a:ext>
            </a:extLst>
          </p:cNvPr>
          <p:cNvCxnSpPr>
            <a:cxnSpLocks/>
            <a:stCxn id="10" idx="3"/>
          </p:cNvCxnSpPr>
          <p:nvPr/>
        </p:nvCxnSpPr>
        <p:spPr>
          <a:xfrm flipH="1">
            <a:off x="2654710" y="2327733"/>
            <a:ext cx="5757288" cy="857919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4531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A674C-A5E6-465F-9A60-52EA2C003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2400" y="159661"/>
            <a:ext cx="3539613" cy="468797"/>
          </a:xfrm>
        </p:spPr>
        <p:txBody>
          <a:bodyPr/>
          <a:lstStyle/>
          <a:p>
            <a:r>
              <a:rPr lang="en-US" sz="3500" dirty="0"/>
              <a:t>Solution (cont.)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6300FB-30E2-421C-B6FA-83C298EE6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6B1272-C48B-4987-BC25-BD41614D0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15/10/2025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7C7F9F-303E-4EFA-9867-055BA53C2D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913" y="734347"/>
            <a:ext cx="6478998" cy="3331555"/>
          </a:xfrm>
          <a:prstGeom prst="rect">
            <a:avLst/>
          </a:prstGeom>
          <a:ln>
            <a:solidFill>
              <a:srgbClr val="002060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1AE7E52-B690-4D79-B53D-10A59A7BF4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7617" y="3336316"/>
            <a:ext cx="6361470" cy="2897906"/>
          </a:xfrm>
          <a:prstGeom prst="rect">
            <a:avLst/>
          </a:prstGeom>
          <a:ln>
            <a:solidFill>
              <a:srgbClr val="002060"/>
            </a:solidFill>
          </a:ln>
        </p:spPr>
      </p:pic>
    </p:spTree>
    <p:extLst>
      <p:ext uri="{BB962C8B-B14F-4D97-AF65-F5344CB8AC3E}">
        <p14:creationId xmlns:p14="http://schemas.microsoft.com/office/powerpoint/2010/main" val="21628318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BED80-0F3A-4618-B5A0-BDF71DCFA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 Solution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6E09C7-2447-4301-9915-9425E1B45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0AF854-351F-4CB7-89F3-B2740F3CA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15/10/2025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88F3BEB-ADEE-4383-A6F3-C31DD37744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9350" y="1417533"/>
            <a:ext cx="7353300" cy="4714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9755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E60FF-9950-465F-85F4-5C2E924C6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1: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9E536-1D9D-4A78-875C-A1A463D0E1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4236" y="1248058"/>
            <a:ext cx="11085946" cy="5122712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Develop a C-program that will:</a:t>
            </a:r>
          </a:p>
          <a:p>
            <a:pPr lvl="1"/>
            <a:r>
              <a:rPr lang="en-US" dirty="0"/>
              <a:t>Accept values to an integer array that may contains 100 elements. The input will terminate when user enters the value of zero.</a:t>
            </a:r>
          </a:p>
          <a:p>
            <a:pPr lvl="1"/>
            <a:r>
              <a:rPr lang="en-US" dirty="0"/>
              <a:t>Print out the it’s maximum value.</a:t>
            </a:r>
          </a:p>
          <a:p>
            <a:pPr lvl="1"/>
            <a:r>
              <a:rPr lang="en-US" dirty="0"/>
              <a:t>Print out it’s elements.</a:t>
            </a:r>
          </a:p>
          <a:p>
            <a:pPr lvl="1"/>
            <a:r>
              <a:rPr lang="en-US" dirty="0"/>
              <a:t>Print out it’s even values.</a:t>
            </a:r>
          </a:p>
          <a:p>
            <a:r>
              <a:rPr lang="en-US" i="1" dirty="0"/>
              <a:t>Requirement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The difference between this problem with the previous one is the input operation can terminate abruptly when 0 is accepted.</a:t>
            </a:r>
          </a:p>
          <a:p>
            <a:pPr lvl="2"/>
            <a:r>
              <a:rPr lang="en-US" dirty="0">
                <a:sym typeface="Wingdings" pitchFamily="2" charset="2"/>
              </a:rPr>
              <a:t>Memory block of the array needs to be allocated  in excess</a:t>
            </a:r>
          </a:p>
          <a:p>
            <a:pPr lvl="2"/>
            <a:r>
              <a:rPr lang="en-US" dirty="0">
                <a:sym typeface="Wingdings" pitchFamily="2" charset="2"/>
              </a:rPr>
              <a:t>The function for input values of the array must be modified for this case  and the number of elements is updated after each valid value  is accepted.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EDE82F-49A1-43B1-9030-44F73FEFE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7ED69-37DF-49AC-87AC-7FE676504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15/10/2025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80132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49728-A5D6-4F38-8A38-55E5DDC41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1 (cont.)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4E88BC-FF38-4043-AB38-487794244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51ED0D-8DCB-4C88-80F8-14BFB83A4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15/10/2025</a:t>
            </a:fld>
            <a:endParaRPr lang="en-US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948D3B79-79C8-4AFB-A853-221F3654A7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18510" y="1313419"/>
            <a:ext cx="8439150" cy="5048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504541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49728-A5D6-4F38-8A38-55E5DDC41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1 (cont.)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4E88BC-FF38-4043-AB38-487794244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51ED0D-8DCB-4C88-80F8-14BFB83A4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15/10/2025</a:t>
            </a:fld>
            <a:endParaRPr lang="en-US" dirty="0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DB42B877-4FD8-4867-A485-5A94BB9C22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14793" y="1498600"/>
            <a:ext cx="8410575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4">
            <a:extLst>
              <a:ext uri="{FF2B5EF4-FFF2-40B4-BE49-F238E27FC236}">
                <a16:creationId xmlns:a16="http://schemas.microsoft.com/office/drawing/2014/main" id="{0A5F5B78-46EC-4B04-BF00-3541555E2A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29080" y="3921760"/>
            <a:ext cx="3981450" cy="212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F0C5AF8-9DC9-48F5-9EE1-38FABD61E4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0205806"/>
              </p:ext>
            </p:extLst>
          </p:nvPr>
        </p:nvGraphicFramePr>
        <p:xfrm>
          <a:off x="5948680" y="3098800"/>
          <a:ext cx="3962399" cy="67056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5660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0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60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60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60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60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660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r>
                        <a:rPr lang="en-US" sz="16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r>
                        <a:rPr lang="en-US" sz="160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00AA2E33-19D7-478A-A830-3A317333E267}"/>
              </a:ext>
            </a:extLst>
          </p:cNvPr>
          <p:cNvSpPr/>
          <p:nvPr/>
        </p:nvSpPr>
        <p:spPr>
          <a:xfrm>
            <a:off x="8006080" y="2413000"/>
            <a:ext cx="1066800" cy="228600"/>
          </a:xfrm>
          <a:prstGeom prst="rect">
            <a:avLst/>
          </a:prstGeom>
          <a:solidFill>
            <a:srgbClr val="0000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n=0 </a:t>
            </a:r>
            <a:r>
              <a:rPr lang="en-US" sz="1600" dirty="0">
                <a:sym typeface="Wingdings" pitchFamily="2" charset="2"/>
              </a:rPr>
              <a:t> 1</a:t>
            </a:r>
            <a:endParaRPr lang="en-US" sz="16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AB84052-F62D-44FD-9E4B-B49D528EF204}"/>
              </a:ext>
            </a:extLst>
          </p:cNvPr>
          <p:cNvSpPr/>
          <p:nvPr/>
        </p:nvSpPr>
        <p:spPr>
          <a:xfrm>
            <a:off x="6085841" y="2413000"/>
            <a:ext cx="685800" cy="228600"/>
          </a:xfrm>
          <a:prstGeom prst="rect">
            <a:avLst/>
          </a:prstGeom>
          <a:solidFill>
            <a:srgbClr val="0000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x=3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EC869F9-8D4A-4F54-835D-B115A9354F3C}"/>
              </a:ext>
            </a:extLst>
          </p:cNvPr>
          <p:cNvCxnSpPr>
            <a:cxnSpLocks/>
            <a:stCxn id="11" idx="2"/>
          </p:cNvCxnSpPr>
          <p:nvPr/>
        </p:nvCxnSpPr>
        <p:spPr>
          <a:xfrm flipH="1">
            <a:off x="6217920" y="2641600"/>
            <a:ext cx="210821" cy="937260"/>
          </a:xfrm>
          <a:prstGeom prst="straightConnector1">
            <a:avLst/>
          </a:prstGeom>
          <a:ln w="19050">
            <a:solidFill>
              <a:srgbClr val="B3199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66493480-6B50-4FA7-AAEA-C9BC3D4243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5969595"/>
              </p:ext>
            </p:extLst>
          </p:nvPr>
        </p:nvGraphicFramePr>
        <p:xfrm>
          <a:off x="5948680" y="5019040"/>
          <a:ext cx="3962399" cy="67056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5660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0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60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60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60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60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660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r>
                        <a:rPr lang="en-US" sz="16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r>
                        <a:rPr lang="en-US" sz="160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" name="Rectangle 13">
            <a:extLst>
              <a:ext uri="{FF2B5EF4-FFF2-40B4-BE49-F238E27FC236}">
                <a16:creationId xmlns:a16="http://schemas.microsoft.com/office/drawing/2014/main" id="{925C7354-D68D-4B13-B458-3382CF86CFD3}"/>
              </a:ext>
            </a:extLst>
          </p:cNvPr>
          <p:cNvSpPr/>
          <p:nvPr/>
        </p:nvSpPr>
        <p:spPr>
          <a:xfrm>
            <a:off x="8539480" y="4246880"/>
            <a:ext cx="1066800" cy="228600"/>
          </a:xfrm>
          <a:prstGeom prst="rect">
            <a:avLst/>
          </a:prstGeom>
          <a:solidFill>
            <a:srgbClr val="0000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n=3</a:t>
            </a:r>
            <a:r>
              <a:rPr lang="en-US" sz="1600" dirty="0">
                <a:sym typeface="Wingdings" pitchFamily="2" charset="2"/>
              </a:rPr>
              <a:t> 4</a:t>
            </a:r>
            <a:endParaRPr lang="en-US" sz="16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4008123-BB9F-49D3-A5DC-5EC78A351B9B}"/>
              </a:ext>
            </a:extLst>
          </p:cNvPr>
          <p:cNvSpPr/>
          <p:nvPr/>
        </p:nvSpPr>
        <p:spPr>
          <a:xfrm>
            <a:off x="7625080" y="4241800"/>
            <a:ext cx="685800" cy="228600"/>
          </a:xfrm>
          <a:prstGeom prst="rect">
            <a:avLst/>
          </a:prstGeom>
          <a:solidFill>
            <a:srgbClr val="0000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x=7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81C754B-521C-4FEB-B1B3-E94BDF2FCD96}"/>
              </a:ext>
            </a:extLst>
          </p:cNvPr>
          <p:cNvCxnSpPr>
            <a:stCxn id="15" idx="2"/>
          </p:cNvCxnSpPr>
          <p:nvPr/>
        </p:nvCxnSpPr>
        <p:spPr>
          <a:xfrm rot="5400000">
            <a:off x="7339330" y="4908550"/>
            <a:ext cx="1066800" cy="190500"/>
          </a:xfrm>
          <a:prstGeom prst="straightConnector1">
            <a:avLst/>
          </a:prstGeom>
          <a:ln w="19050">
            <a:solidFill>
              <a:srgbClr val="B3199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3ED0A4D-199F-4E83-8424-D3260C89C2EB}"/>
              </a:ext>
            </a:extLst>
          </p:cNvPr>
          <p:cNvCxnSpPr/>
          <p:nvPr/>
        </p:nvCxnSpPr>
        <p:spPr>
          <a:xfrm rot="10800000" flipV="1">
            <a:off x="6329680" y="2565400"/>
            <a:ext cx="2057400" cy="68580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1992CEC-A629-4523-8D08-E9EF1DC6CDD3}"/>
              </a:ext>
            </a:extLst>
          </p:cNvPr>
          <p:cNvCxnSpPr>
            <a:cxnSpLocks/>
          </p:cNvCxnSpPr>
          <p:nvPr/>
        </p:nvCxnSpPr>
        <p:spPr>
          <a:xfrm rot="10800000" flipV="1">
            <a:off x="8006080" y="4470400"/>
            <a:ext cx="914400" cy="76200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79898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2A0E6-16E2-4FBF-A8A0-BFB8218E4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1-D Arrays: Searching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14735C-C40A-4459-9E24-2120F60EB4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search algorithm finds the record of interest using the key array.</a:t>
            </a:r>
          </a:p>
          <a:p>
            <a:r>
              <a:rPr lang="en-US" dirty="0">
                <a:latin typeface="Arial" charset="0"/>
                <a:cs typeface="Arial" charset="0"/>
              </a:rPr>
              <a:t>Return value: The positional index at which  the interest value is found.</a:t>
            </a:r>
          </a:p>
          <a:p>
            <a:r>
              <a:rPr lang="en-US" dirty="0"/>
              <a:t>Two common search algorithms are: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10E9F1-012F-495A-AE5D-A7828E32B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FD5EF1-FE3B-441E-BD24-D635C73BE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15/10/2025</a:t>
            </a:fld>
            <a:endParaRPr lang="en-US" dirty="0"/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3F0C3EB6-2FAF-417C-92E9-80558921D9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2403204"/>
              </p:ext>
            </p:extLst>
          </p:nvPr>
        </p:nvGraphicFramePr>
        <p:xfrm>
          <a:off x="515158" y="3429000"/>
          <a:ext cx="11344102" cy="23115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72051">
                  <a:extLst>
                    <a:ext uri="{9D8B030D-6E8A-4147-A177-3AD203B41FA5}">
                      <a16:colId xmlns:a16="http://schemas.microsoft.com/office/drawing/2014/main" val="1007100531"/>
                    </a:ext>
                  </a:extLst>
                </a:gridCol>
                <a:gridCol w="5672051">
                  <a:extLst>
                    <a:ext uri="{9D8B030D-6E8A-4147-A177-3AD203B41FA5}">
                      <a16:colId xmlns:a16="http://schemas.microsoft.com/office/drawing/2014/main" val="1088697288"/>
                    </a:ext>
                  </a:extLst>
                </a:gridCol>
              </a:tblGrid>
              <a:tr h="499534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Linear search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Binary search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5752067"/>
                  </a:ext>
                </a:extLst>
              </a:tr>
              <a:tr h="1812019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9575396"/>
                  </a:ext>
                </a:extLst>
              </a:tr>
            </a:tbl>
          </a:graphicData>
        </a:graphic>
      </p:graphicFrame>
      <p:pic>
        <p:nvPicPr>
          <p:cNvPr id="12" name="Picture 4" descr="Unveiling the Power of Linear Search: A Simple Yet Effective Algorithm for  Element Retrieval | by Rohan Patil | Medium">
            <a:extLst>
              <a:ext uri="{FF2B5EF4-FFF2-40B4-BE49-F238E27FC236}">
                <a16:creationId xmlns:a16="http://schemas.microsoft.com/office/drawing/2014/main" id="{203D5C8B-A09B-4423-8C65-075243F9C63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00" t="38979" r="16010" b="33525"/>
          <a:stretch/>
        </p:blipFill>
        <p:spPr bwMode="auto">
          <a:xfrm>
            <a:off x="628996" y="4208166"/>
            <a:ext cx="5410662" cy="1067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Binary Search Algorithm">
            <a:extLst>
              <a:ext uri="{FF2B5EF4-FFF2-40B4-BE49-F238E27FC236}">
                <a16:creationId xmlns:a16="http://schemas.microsoft.com/office/drawing/2014/main" id="{8CC909AB-4692-4ABC-91C8-71ED75431C5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00" t="10192" r="14014" b="15015"/>
          <a:stretch/>
        </p:blipFill>
        <p:spPr bwMode="auto">
          <a:xfrm>
            <a:off x="6556338" y="4208166"/>
            <a:ext cx="4872922" cy="1381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84228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17602-A8CD-4AC5-BC8D-AF873C71B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Searching: Linear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10D6D-FCF3-42AD-9BEB-8489AF70F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4236" y="1126138"/>
            <a:ext cx="11085946" cy="5122712"/>
          </a:xfrm>
        </p:spPr>
        <p:txBody>
          <a:bodyPr/>
          <a:lstStyle/>
          <a:p>
            <a:r>
              <a:rPr lang="en-US" b="1" dirty="0"/>
              <a:t>Linear Search</a:t>
            </a:r>
            <a:r>
              <a:rPr lang="en-US" dirty="0"/>
              <a:t>: </a:t>
            </a:r>
            <a:r>
              <a:rPr lang="en-US" dirty="0">
                <a:latin typeface="Arial" charset="0"/>
                <a:cs typeface="Arial" charset="0"/>
              </a:rPr>
              <a:t>Find the position of the value x in the array a having n elements.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CDC38C-8EFF-4767-917F-652849D62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6A9A0D-58A3-4777-9F1B-249E5BDF3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15/10/2025</a:t>
            </a:fld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2F9CC56-794E-4CEE-BC4D-E435A4C01C20}"/>
              </a:ext>
            </a:extLst>
          </p:cNvPr>
          <p:cNvSpPr/>
          <p:nvPr/>
        </p:nvSpPr>
        <p:spPr>
          <a:xfrm>
            <a:off x="1032164" y="2338687"/>
            <a:ext cx="3444240" cy="80772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2000" dirty="0"/>
              <a:t>Search  the value of  </a:t>
            </a:r>
            <a:r>
              <a:rPr lang="en-US" sz="2000" b="1" dirty="0"/>
              <a:t>6</a:t>
            </a:r>
            <a:r>
              <a:rPr lang="en-US" sz="2000" dirty="0"/>
              <a:t> in the array a having  8 items.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E02605F2-2F6B-44D6-8466-648439BEDA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511403"/>
              </p:ext>
            </p:extLst>
          </p:nvPr>
        </p:nvGraphicFramePr>
        <p:xfrm>
          <a:off x="4613564" y="2338686"/>
          <a:ext cx="6096000" cy="8077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0386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r>
                        <a:rPr lang="en-US" dirty="0"/>
                        <a:t>i=0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6" name="Rectangle 15">
            <a:extLst>
              <a:ext uri="{FF2B5EF4-FFF2-40B4-BE49-F238E27FC236}">
                <a16:creationId xmlns:a16="http://schemas.microsoft.com/office/drawing/2014/main" id="{FEE07414-B325-4CBD-91F4-F5436B137CBC}"/>
              </a:ext>
            </a:extLst>
          </p:cNvPr>
          <p:cNvSpPr/>
          <p:nvPr/>
        </p:nvSpPr>
        <p:spPr>
          <a:xfrm>
            <a:off x="1032164" y="3404901"/>
            <a:ext cx="3444240" cy="709246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2000" dirty="0"/>
              <a:t>Search  the value of  </a:t>
            </a:r>
            <a:r>
              <a:rPr lang="en-US" sz="2000" b="1" dirty="0"/>
              <a:t>12</a:t>
            </a:r>
            <a:r>
              <a:rPr lang="en-US" sz="2000" dirty="0"/>
              <a:t> in the array a having  8 items.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01238015-315D-47BE-BA94-9F49F47D56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7626271"/>
              </p:ext>
            </p:extLst>
          </p:nvPr>
        </p:nvGraphicFramePr>
        <p:xfrm>
          <a:off x="4613564" y="3401775"/>
          <a:ext cx="60960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54623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623">
                <a:tc>
                  <a:txBody>
                    <a:bodyPr/>
                    <a:lstStyle/>
                    <a:p>
                      <a:r>
                        <a:rPr lang="en-US" dirty="0"/>
                        <a:t>i=0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Rectangle 18">
            <a:extLst>
              <a:ext uri="{FF2B5EF4-FFF2-40B4-BE49-F238E27FC236}">
                <a16:creationId xmlns:a16="http://schemas.microsoft.com/office/drawing/2014/main" id="{8599980A-13DA-412B-8007-6D96A84C408F}"/>
              </a:ext>
            </a:extLst>
          </p:cNvPr>
          <p:cNvSpPr/>
          <p:nvPr/>
        </p:nvSpPr>
        <p:spPr>
          <a:xfrm>
            <a:off x="10794538" y="3767535"/>
            <a:ext cx="753226" cy="36576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-1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A746FFA-16B8-47F2-B69B-C2A3A5BC8B6B}"/>
              </a:ext>
            </a:extLst>
          </p:cNvPr>
          <p:cNvSpPr/>
          <p:nvPr/>
        </p:nvSpPr>
        <p:spPr>
          <a:xfrm>
            <a:off x="1032164" y="4362345"/>
            <a:ext cx="4820920" cy="1981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int  </a:t>
            </a:r>
            <a:r>
              <a:rPr lang="en-US" dirty="0" err="1">
                <a:solidFill>
                  <a:schemeClr val="tx1"/>
                </a:solidFill>
              </a:rPr>
              <a:t>firstLinearSearch</a:t>
            </a:r>
            <a:r>
              <a:rPr lang="en-US" dirty="0">
                <a:solidFill>
                  <a:schemeClr val="tx1"/>
                </a:solidFill>
              </a:rPr>
              <a:t>(int x, int a[], int n)</a:t>
            </a:r>
          </a:p>
          <a:p>
            <a:r>
              <a:rPr lang="en-US" dirty="0">
                <a:solidFill>
                  <a:schemeClr val="tx1"/>
                </a:solidFill>
              </a:rPr>
              <a:t>{  </a:t>
            </a:r>
          </a:p>
          <a:p>
            <a:r>
              <a:rPr lang="en-US" dirty="0">
                <a:solidFill>
                  <a:schemeClr val="tx1"/>
                </a:solidFill>
              </a:rPr>
              <a:t>	int i;</a:t>
            </a:r>
          </a:p>
          <a:p>
            <a:r>
              <a:rPr lang="en-US" dirty="0">
                <a:solidFill>
                  <a:schemeClr val="tx1"/>
                </a:solidFill>
              </a:rPr>
              <a:t>   	for ( i=0;  i&lt;n;  i++)</a:t>
            </a:r>
          </a:p>
          <a:p>
            <a:r>
              <a:rPr lang="en-US" dirty="0">
                <a:solidFill>
                  <a:schemeClr val="tx1"/>
                </a:solidFill>
              </a:rPr>
              <a:t>       		if ( x == a[i] ) return i;</a:t>
            </a:r>
          </a:p>
          <a:p>
            <a:r>
              <a:rPr lang="en-US" dirty="0">
                <a:solidFill>
                  <a:schemeClr val="tx1"/>
                </a:solidFill>
              </a:rPr>
              <a:t>   	return -1;</a:t>
            </a:r>
          </a:p>
          <a:p>
            <a:r>
              <a:rPr lang="en-US" dirty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5499822-A039-4E19-AD38-0B48102268AD}"/>
              </a:ext>
            </a:extLst>
          </p:cNvPr>
          <p:cNvSpPr/>
          <p:nvPr/>
        </p:nvSpPr>
        <p:spPr>
          <a:xfrm>
            <a:off x="5929284" y="4362345"/>
            <a:ext cx="5618480" cy="1981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int  </a:t>
            </a:r>
            <a:r>
              <a:rPr lang="en-US" dirty="0" err="1">
                <a:solidFill>
                  <a:schemeClr val="tx1"/>
                </a:solidFill>
              </a:rPr>
              <a:t>lastLinearSearch</a:t>
            </a:r>
            <a:r>
              <a:rPr lang="en-US" dirty="0">
                <a:solidFill>
                  <a:schemeClr val="tx1"/>
                </a:solidFill>
              </a:rPr>
              <a:t>(double x, double *a, int n)</a:t>
            </a:r>
          </a:p>
          <a:p>
            <a:r>
              <a:rPr lang="en-US" dirty="0">
                <a:solidFill>
                  <a:schemeClr val="tx1"/>
                </a:solidFill>
              </a:rPr>
              <a:t>{ </a:t>
            </a:r>
          </a:p>
          <a:p>
            <a:r>
              <a:rPr lang="en-US" dirty="0">
                <a:solidFill>
                  <a:schemeClr val="tx1"/>
                </a:solidFill>
              </a:rPr>
              <a:t>	int i;</a:t>
            </a:r>
          </a:p>
          <a:p>
            <a:r>
              <a:rPr lang="en-US" dirty="0">
                <a:solidFill>
                  <a:schemeClr val="tx1"/>
                </a:solidFill>
              </a:rPr>
              <a:t>	for ( i=n-1;  i&gt;=0;  i--)</a:t>
            </a:r>
          </a:p>
          <a:p>
            <a:r>
              <a:rPr lang="en-US" dirty="0">
                <a:solidFill>
                  <a:schemeClr val="tx1"/>
                </a:solidFill>
              </a:rPr>
              <a:t>       		if ( x == a[i] ) return i;</a:t>
            </a:r>
          </a:p>
          <a:p>
            <a:r>
              <a:rPr lang="en-US" dirty="0">
                <a:solidFill>
                  <a:schemeClr val="tx1"/>
                </a:solidFill>
              </a:rPr>
              <a:t>   	return -1;</a:t>
            </a:r>
          </a:p>
          <a:p>
            <a:r>
              <a:rPr lang="en-US" dirty="0">
                <a:solidFill>
                  <a:schemeClr val="tx1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976986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D72D6-1BE4-4043-9F38-B54F5DEF3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2: Using Linear Search algorithm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A4CC33-69A7-4C84-B7B1-D8A32502D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9C89CE-0386-49FE-9CC3-E8B52BCE5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15/10/2025</a:t>
            </a:fld>
            <a:endParaRPr lang="en-US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E86AE6A4-F4EB-488A-A9F7-611F296F5B2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/>
          <a:srcRect l="1764"/>
          <a:stretch/>
        </p:blipFill>
        <p:spPr bwMode="auto">
          <a:xfrm>
            <a:off x="1143000" y="3429000"/>
            <a:ext cx="8486775" cy="251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3">
            <a:extLst>
              <a:ext uri="{FF2B5EF4-FFF2-40B4-BE49-F238E27FC236}">
                <a16:creationId xmlns:a16="http://schemas.microsoft.com/office/drawing/2014/main" id="{E1529FB2-0CB9-48CA-86EB-61402C3781D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/>
          <a:srcRect t="10210"/>
          <a:stretch/>
        </p:blipFill>
        <p:spPr bwMode="auto">
          <a:xfrm>
            <a:off x="1143000" y="1487592"/>
            <a:ext cx="5838825" cy="19414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C9CAB5F9-ED72-4375-9270-5172776ED2C5}"/>
              </a:ext>
            </a:extLst>
          </p:cNvPr>
          <p:cNvSpPr/>
          <p:nvPr/>
        </p:nvSpPr>
        <p:spPr>
          <a:xfrm>
            <a:off x="7501572" y="2286532"/>
            <a:ext cx="2743200" cy="60536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/>
              <a:t>Do yourself</a:t>
            </a:r>
          </a:p>
        </p:txBody>
      </p:sp>
    </p:spTree>
    <p:extLst>
      <p:ext uri="{BB962C8B-B14F-4D97-AF65-F5344CB8AC3E}">
        <p14:creationId xmlns:p14="http://schemas.microsoft.com/office/powerpoint/2010/main" val="23028712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3C27A-2F73-47AF-A41F-8861D8D55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Searching: Binary Search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D2DC9B-CCAD-4FB5-9589-9E886F812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F3BBA8-5E5F-48BD-BDAC-780921424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15/10/2025</a:t>
            </a:fld>
            <a:endParaRPr lang="en-US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76A928CC-94C9-48BA-9DD5-36B96F5439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222358" y="1346789"/>
            <a:ext cx="3106530" cy="44952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3">
            <a:extLst>
              <a:ext uri="{FF2B5EF4-FFF2-40B4-BE49-F238E27FC236}">
                <a16:creationId xmlns:a16="http://schemas.microsoft.com/office/drawing/2014/main" id="{4DF1A060-5D94-4338-B981-5C5DB031EB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674976" y="563031"/>
            <a:ext cx="3218228" cy="53743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E2A28E0-A0F2-4830-BF01-19451BA33C04}"/>
              </a:ext>
            </a:extLst>
          </p:cNvPr>
          <p:cNvSpPr/>
          <p:nvPr/>
        </p:nvSpPr>
        <p:spPr>
          <a:xfrm>
            <a:off x="6086764" y="5994400"/>
            <a:ext cx="1676400" cy="304800"/>
          </a:xfrm>
          <a:prstGeom prst="rect">
            <a:avLst/>
          </a:prstGeom>
          <a:solidFill>
            <a:srgbClr val="0000CC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return  c (7)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633586-3428-4E5E-824C-BD36A623682A}"/>
              </a:ext>
            </a:extLst>
          </p:cNvPr>
          <p:cNvSpPr/>
          <p:nvPr/>
        </p:nvSpPr>
        <p:spPr>
          <a:xfrm>
            <a:off x="9564900" y="5980008"/>
            <a:ext cx="1676400" cy="304800"/>
          </a:xfrm>
          <a:prstGeom prst="rect">
            <a:avLst/>
          </a:prstGeom>
          <a:solidFill>
            <a:srgbClr val="0000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i&gt;j </a:t>
            </a:r>
            <a:r>
              <a:rPr lang="en-US" dirty="0">
                <a:sym typeface="Wingdings" pitchFamily="2" charset="2"/>
              </a:rPr>
              <a:t> return -1</a:t>
            </a:r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FE26762F-0DFB-48E0-ACBE-36C31C0ED6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4236" y="1194389"/>
            <a:ext cx="3886594" cy="2541622"/>
          </a:xfrm>
        </p:spPr>
        <p:txBody>
          <a:bodyPr/>
          <a:lstStyle/>
          <a:p>
            <a:pPr algn="l"/>
            <a:r>
              <a:rPr lang="en-US" sz="2200" b="1" dirty="0"/>
              <a:t>Binary Search</a:t>
            </a:r>
            <a:r>
              <a:rPr lang="en-US" sz="2200" dirty="0"/>
              <a:t>: </a:t>
            </a:r>
            <a:r>
              <a:rPr lang="en-US" sz="2200" dirty="0">
                <a:latin typeface="Arial" charset="0"/>
                <a:cs typeface="Arial" charset="0"/>
              </a:rPr>
              <a:t>Condition for application: Values in the array were sorted.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B26828F-A2CC-4322-804C-753B7BA4A46D}"/>
              </a:ext>
            </a:extLst>
          </p:cNvPr>
          <p:cNvSpPr/>
          <p:nvPr/>
        </p:nvSpPr>
        <p:spPr>
          <a:xfrm>
            <a:off x="334220" y="2702560"/>
            <a:ext cx="4602480" cy="366776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/>
              <a:t>int  </a:t>
            </a:r>
            <a:r>
              <a:rPr lang="en-US" sz="2000" b="1" dirty="0"/>
              <a:t>binarySearch</a:t>
            </a:r>
            <a:r>
              <a:rPr lang="en-US" sz="2000" dirty="0"/>
              <a:t> ( int x, int a[], int n)</a:t>
            </a:r>
          </a:p>
          <a:p>
            <a:r>
              <a:rPr lang="en-US" sz="2000" dirty="0"/>
              <a:t>{  </a:t>
            </a:r>
          </a:p>
          <a:p>
            <a:r>
              <a:rPr lang="en-US" sz="2000" dirty="0"/>
              <a:t>   int i=0, j= n-1, c ;</a:t>
            </a:r>
          </a:p>
          <a:p>
            <a:r>
              <a:rPr lang="en-US" sz="2000" dirty="0"/>
              <a:t>   while (i&lt;=j)</a:t>
            </a:r>
          </a:p>
          <a:p>
            <a:r>
              <a:rPr lang="en-US" sz="2000" dirty="0"/>
              <a:t>     {   </a:t>
            </a:r>
          </a:p>
          <a:p>
            <a:r>
              <a:rPr lang="en-US" sz="2000" dirty="0"/>
              <a:t>         c= (i+j)/2;</a:t>
            </a:r>
          </a:p>
          <a:p>
            <a:r>
              <a:rPr lang="en-US" sz="2000" dirty="0"/>
              <a:t>         if ( x== a[c] )  return c ;</a:t>
            </a:r>
          </a:p>
          <a:p>
            <a:r>
              <a:rPr lang="en-US" sz="2000" dirty="0"/>
              <a:t>         if (x &lt; a[c] )  j = c-1;</a:t>
            </a:r>
          </a:p>
          <a:p>
            <a:r>
              <a:rPr lang="en-US" sz="2000" dirty="0"/>
              <a:t>         else </a:t>
            </a:r>
            <a:r>
              <a:rPr lang="en-US" sz="2000" dirty="0" err="1"/>
              <a:t>i</a:t>
            </a:r>
            <a:r>
              <a:rPr lang="en-US" sz="2000" dirty="0"/>
              <a:t> = c +1;</a:t>
            </a:r>
          </a:p>
          <a:p>
            <a:r>
              <a:rPr lang="en-US" sz="2000" dirty="0"/>
              <a:t>     }</a:t>
            </a:r>
          </a:p>
          <a:p>
            <a:r>
              <a:rPr lang="en-US" sz="2000" dirty="0"/>
              <a:t>    return -1;</a:t>
            </a:r>
          </a:p>
          <a:p>
            <a:r>
              <a:rPr lang="en-US" sz="20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182951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F1DF7-1C73-463B-8F2E-658EE7316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3: Using Binary Search algorithm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40F278-6DED-4EC3-8544-6A084CEAA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3D7E77-F01B-49A9-A571-BAC172499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15/10/2025</a:t>
            </a:fld>
            <a:endParaRPr lang="en-US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3A91DB22-44DE-4C63-B12D-0BE294490A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01320" y="1194389"/>
            <a:ext cx="6877328" cy="3194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A0F44C7-AD01-4164-8957-4C3FD21743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1818288"/>
              </p:ext>
            </p:extLst>
          </p:nvPr>
        </p:nvGraphicFramePr>
        <p:xfrm>
          <a:off x="5943600" y="3749040"/>
          <a:ext cx="6065520" cy="25603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33730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24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7051">
                <a:tc>
                  <a:txBody>
                    <a:bodyPr/>
                    <a:lstStyle/>
                    <a:p>
                      <a:r>
                        <a:rPr lang="en-US" dirty="0"/>
                        <a:t>No.</a:t>
                      </a:r>
                      <a:r>
                        <a:rPr lang="en-US" baseline="0" dirty="0"/>
                        <a:t> of elements considered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No.</a:t>
                      </a:r>
                      <a:r>
                        <a:rPr lang="en-US" baseline="0" dirty="0"/>
                        <a:t> of comparisons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051">
                <a:tc>
                  <a:txBody>
                    <a:bodyPr/>
                    <a:lstStyle/>
                    <a:p>
                      <a:r>
                        <a:rPr lang="en-US" dirty="0"/>
                        <a:t>n= 2</a:t>
                      </a:r>
                      <a:r>
                        <a:rPr lang="en-US" baseline="30000" dirty="0"/>
                        <a:t>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7051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r>
                        <a:rPr lang="en-US" baseline="30000" dirty="0"/>
                        <a:t>m-1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7051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r>
                        <a:rPr lang="en-US" baseline="30000" dirty="0"/>
                        <a:t>m-2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7051"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7051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r>
                        <a:rPr lang="en-US" baseline="300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7051">
                <a:tc>
                  <a:txBody>
                    <a:bodyPr/>
                    <a:lstStyle/>
                    <a:p>
                      <a:r>
                        <a:rPr lang="en-US" dirty="0"/>
                        <a:t>Sum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m+1 = log</a:t>
                      </a:r>
                      <a:r>
                        <a:rPr lang="en-US" baseline="-25000" dirty="0"/>
                        <a:t>2</a:t>
                      </a:r>
                      <a:r>
                        <a:rPr lang="en-US" dirty="0"/>
                        <a:t>(n) +1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39556B68-6847-41AC-9604-66230FF249A0}"/>
              </a:ext>
            </a:extLst>
          </p:cNvPr>
          <p:cNvSpPr/>
          <p:nvPr/>
        </p:nvSpPr>
        <p:spPr>
          <a:xfrm>
            <a:off x="4048760" y="4920124"/>
            <a:ext cx="1447800" cy="457200"/>
          </a:xfrm>
          <a:prstGeom prst="rect">
            <a:avLst/>
          </a:prstGeom>
          <a:solidFill>
            <a:srgbClr val="008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Evaluation:</a:t>
            </a:r>
          </a:p>
        </p:txBody>
      </p:sp>
    </p:spTree>
    <p:extLst>
      <p:ext uri="{BB962C8B-B14F-4D97-AF65-F5344CB8AC3E}">
        <p14:creationId xmlns:p14="http://schemas.microsoft.com/office/powerpoint/2010/main" val="39793422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8">
            <a:extLst>
              <a:ext uri="{FF2B5EF4-FFF2-40B4-BE49-F238E27FC236}">
                <a16:creationId xmlns:a16="http://schemas.microsoft.com/office/drawing/2014/main" id="{3BDDBD01-BD0D-4B27-B3A6-ABAF897CA7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5917365"/>
              </p:ext>
            </p:extLst>
          </p:nvPr>
        </p:nvGraphicFramePr>
        <p:xfrm>
          <a:off x="548640" y="3880534"/>
          <a:ext cx="11344102" cy="24593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72051">
                  <a:extLst>
                    <a:ext uri="{9D8B030D-6E8A-4147-A177-3AD203B41FA5}">
                      <a16:colId xmlns:a16="http://schemas.microsoft.com/office/drawing/2014/main" val="1007100531"/>
                    </a:ext>
                  </a:extLst>
                </a:gridCol>
                <a:gridCol w="5672051">
                  <a:extLst>
                    <a:ext uri="{9D8B030D-6E8A-4147-A177-3AD203B41FA5}">
                      <a16:colId xmlns:a16="http://schemas.microsoft.com/office/drawing/2014/main" val="1088697288"/>
                    </a:ext>
                  </a:extLst>
                </a:gridCol>
              </a:tblGrid>
              <a:tr h="531464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Selection sort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Bubble sort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5752067"/>
                  </a:ext>
                </a:extLst>
              </a:tr>
              <a:tr h="1927842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9575396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60DE92E2-0795-475D-99A0-CA367032C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1-D Arrays: Sorting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9A7C41-EBEF-48C1-8DD4-F859E2C5B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b="1" dirty="0"/>
              <a:t>Sorting</a:t>
            </a:r>
            <a:r>
              <a:rPr lang="en-US" dirty="0"/>
              <a:t>: Changing positions of elements in an array so that values are in a order based on a pre-defined order relation.</a:t>
            </a:r>
          </a:p>
          <a:p>
            <a:pPr>
              <a:lnSpc>
                <a:spcPct val="100000"/>
              </a:lnSpc>
            </a:pPr>
            <a:r>
              <a:rPr lang="en-US" dirty="0"/>
              <a:t>Default order relation in set of numbers:</a:t>
            </a:r>
            <a:r>
              <a:rPr lang="en-US" dirty="0">
                <a:sym typeface="Wingdings" pitchFamily="2" charset="2"/>
              </a:rPr>
              <a:t> Value order</a:t>
            </a:r>
          </a:p>
          <a:p>
            <a:pPr>
              <a:lnSpc>
                <a:spcPct val="100000"/>
              </a:lnSpc>
            </a:pPr>
            <a:r>
              <a:rPr lang="en-US" dirty="0"/>
              <a:t>Default order relation in a set of characters/ strings:</a:t>
            </a:r>
            <a:r>
              <a:rPr lang="en-US" dirty="0">
                <a:sym typeface="Wingdings" pitchFamily="2" charset="2"/>
              </a:rPr>
              <a:t> Dictionary order</a:t>
            </a:r>
          </a:p>
          <a:p>
            <a:pPr>
              <a:lnSpc>
                <a:spcPct val="100000"/>
              </a:lnSpc>
            </a:pPr>
            <a:r>
              <a:rPr lang="en-US" dirty="0">
                <a:sym typeface="Wingdings" pitchFamily="2" charset="2"/>
              </a:rPr>
              <a:t>Only two sorting algorithms are introduced here.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5B14B8-D578-4182-9856-290C88C70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3EC8AC-85F6-43A9-B2BB-8B50FCA2C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15/10/2025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A6AB8EE-7300-4BAE-ADA4-47A795F5435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840" t="6612" r="14373" b="16126"/>
          <a:stretch/>
        </p:blipFill>
        <p:spPr>
          <a:xfrm>
            <a:off x="1107440" y="4564291"/>
            <a:ext cx="4236720" cy="168713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FD24355-9486-451B-A56C-0978E2AD50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2408" y="4443410"/>
            <a:ext cx="3820712" cy="1808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0086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FD831-3586-490E-9B1A-B2B3BADA2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Sorting: Selection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52A251-FC0B-4537-AD75-4D27CBC4C9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4236" y="1258218"/>
            <a:ext cx="11085946" cy="5122712"/>
          </a:xfrm>
        </p:spPr>
        <p:txBody>
          <a:bodyPr>
            <a:normAutofit/>
          </a:bodyPr>
          <a:lstStyle/>
          <a:p>
            <a:pPr marL="609600" indent="-609600" algn="just">
              <a:lnSpc>
                <a:spcPct val="90000"/>
              </a:lnSpc>
            </a:pPr>
            <a:r>
              <a:rPr lang="en-US" sz="2200" dirty="0"/>
              <a:t>Find the minimum value in the list </a:t>
            </a:r>
          </a:p>
          <a:p>
            <a:pPr marL="609600" indent="-609600" algn="just">
              <a:lnSpc>
                <a:spcPct val="90000"/>
              </a:lnSpc>
            </a:pPr>
            <a:r>
              <a:rPr lang="en-US" sz="2200" dirty="0"/>
              <a:t>Swap it with the value in the first position </a:t>
            </a:r>
          </a:p>
          <a:p>
            <a:pPr marL="609600" indent="-609600" algn="just">
              <a:lnSpc>
                <a:spcPct val="90000"/>
              </a:lnSpc>
            </a:pPr>
            <a:r>
              <a:rPr lang="en-US" sz="2200" dirty="0"/>
              <a:t>Repeat the steps above for remainder of the list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B55532-6A91-4B31-8ACD-6C3002A2E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EAE613-9682-4E9C-AFD6-D3134C02F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15/10/2025</a:t>
            </a:fld>
            <a:endParaRPr lang="en-US" dirty="0"/>
          </a:p>
        </p:txBody>
      </p:sp>
      <p:grpSp>
        <p:nvGrpSpPr>
          <p:cNvPr id="6" name="Group 16">
            <a:extLst>
              <a:ext uri="{FF2B5EF4-FFF2-40B4-BE49-F238E27FC236}">
                <a16:creationId xmlns:a16="http://schemas.microsoft.com/office/drawing/2014/main" id="{D85F0857-E42B-4C1D-93C8-39BE84AE67D5}"/>
              </a:ext>
            </a:extLst>
          </p:cNvPr>
          <p:cNvGrpSpPr>
            <a:grpSpLocks/>
          </p:cNvGrpSpPr>
          <p:nvPr/>
        </p:nvGrpSpPr>
        <p:grpSpPr bwMode="auto">
          <a:xfrm>
            <a:off x="1678940" y="2664701"/>
            <a:ext cx="8834120" cy="3716229"/>
            <a:chOff x="403" y="1101"/>
            <a:chExt cx="4829" cy="2118"/>
          </a:xfrm>
        </p:grpSpPr>
        <p:pic>
          <p:nvPicPr>
            <p:cNvPr id="7" name="Picture 7">
              <a:extLst>
                <a:ext uri="{FF2B5EF4-FFF2-40B4-BE49-F238E27FC236}">
                  <a16:creationId xmlns:a16="http://schemas.microsoft.com/office/drawing/2014/main" id="{84BC5461-EFEC-4030-BE73-2A95CA96A32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-20000" contrast="40000"/>
            </a:blip>
            <a:srcRect/>
            <a:stretch>
              <a:fillRect/>
            </a:stretch>
          </p:blipFill>
          <p:spPr bwMode="auto">
            <a:xfrm>
              <a:off x="403" y="1101"/>
              <a:ext cx="4829" cy="21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" name="Line 8">
              <a:extLst>
                <a:ext uri="{FF2B5EF4-FFF2-40B4-BE49-F238E27FC236}">
                  <a16:creationId xmlns:a16="http://schemas.microsoft.com/office/drawing/2014/main" id="{1D1D24C1-F7AE-4736-8BC6-167561FFC2E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20" y="1344"/>
              <a:ext cx="768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" name="Line 9">
              <a:extLst>
                <a:ext uri="{FF2B5EF4-FFF2-40B4-BE49-F238E27FC236}">
                  <a16:creationId xmlns:a16="http://schemas.microsoft.com/office/drawing/2014/main" id="{8643A680-03E9-480C-AC21-AB299C8258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1344"/>
              <a:ext cx="768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" name="Line 10">
              <a:extLst>
                <a:ext uri="{FF2B5EF4-FFF2-40B4-BE49-F238E27FC236}">
                  <a16:creationId xmlns:a16="http://schemas.microsoft.com/office/drawing/2014/main" id="{108D9923-5697-4191-8A62-2415ADBAE54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08" y="1872"/>
              <a:ext cx="192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" name="Line 11">
              <a:extLst>
                <a:ext uri="{FF2B5EF4-FFF2-40B4-BE49-F238E27FC236}">
                  <a16:creationId xmlns:a16="http://schemas.microsoft.com/office/drawing/2014/main" id="{7F508454-A5D5-4FAD-BECF-7A14D0A540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1872"/>
              <a:ext cx="24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" name="Line 12">
              <a:extLst>
                <a:ext uri="{FF2B5EF4-FFF2-40B4-BE49-F238E27FC236}">
                  <a16:creationId xmlns:a16="http://schemas.microsoft.com/office/drawing/2014/main" id="{BD3C4E09-EA24-4848-AEAF-F6DB6875057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04" y="2112"/>
              <a:ext cx="384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" name="Line 13">
              <a:extLst>
                <a:ext uri="{FF2B5EF4-FFF2-40B4-BE49-F238E27FC236}">
                  <a16:creationId xmlns:a16="http://schemas.microsoft.com/office/drawing/2014/main" id="{315614DF-1EEA-49E8-841B-0ED8216861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2112"/>
              <a:ext cx="33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4" name="Line 14">
              <a:extLst>
                <a:ext uri="{FF2B5EF4-FFF2-40B4-BE49-F238E27FC236}">
                  <a16:creationId xmlns:a16="http://schemas.microsoft.com/office/drawing/2014/main" id="{5415B85C-DAD5-4616-B74C-500F2CD47BD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48" y="2400"/>
              <a:ext cx="9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5" name="Line 15">
              <a:extLst>
                <a:ext uri="{FF2B5EF4-FFF2-40B4-BE49-F238E27FC236}">
                  <a16:creationId xmlns:a16="http://schemas.microsoft.com/office/drawing/2014/main" id="{5C071A03-37E0-48F5-9AC4-0B6F721352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2400"/>
              <a:ext cx="9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9038620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37BF5-BB85-42E3-BE12-D92B59BF4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Sort: Students complete the demo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8134F6-970C-4C42-AE43-1C9D574D6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8A5EDD-6034-4785-BA37-FA149144E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15/10/2025</a:t>
            </a:fld>
            <a:endParaRPr lang="en-US" dirty="0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EBB02DA7-6CE9-4D6B-9B56-8604C7E9BE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69060" y="1412240"/>
            <a:ext cx="7810500" cy="3867150"/>
          </a:xfrm>
          <a:prstGeom prst="rect">
            <a:avLst/>
          </a:prstGeom>
          <a:noFill/>
          <a:ln w="9525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BDBA8C1-0946-4DC3-B3A3-2ACDF416CF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3068" y="3750802"/>
            <a:ext cx="5096192" cy="2591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71631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C1FDF-32CD-418B-97F8-942EC2485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Sorting: Bubble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1B44C7-F930-4BED-9A0E-5E7D944822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396" y="1276188"/>
            <a:ext cx="4090324" cy="5122712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It works by repeatedly stepping through the list to be sorted, comparing two items at a time and swapping them if they are in the wrong order.</a:t>
            </a:r>
          </a:p>
          <a:p>
            <a:r>
              <a:rPr lang="en-US" dirty="0">
                <a:latin typeface="Arial" charset="0"/>
                <a:cs typeface="Arial" charset="0"/>
              </a:rPr>
              <a:t>The pass through the list is </a:t>
            </a:r>
            <a:r>
              <a:rPr lang="en-US" u="sng" dirty="0">
                <a:latin typeface="Arial" charset="0"/>
                <a:cs typeface="Arial" charset="0"/>
              </a:rPr>
              <a:t>repeated until no swaps are needed</a:t>
            </a:r>
            <a:r>
              <a:rPr lang="en-US" dirty="0">
                <a:latin typeface="Arial" charset="0"/>
                <a:cs typeface="Arial" charset="0"/>
              </a:rPr>
              <a:t>, which means the list is sorted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E831AF-561B-46B5-B103-8BA8925B5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9934F8-FEA7-4B11-B3F6-BAA0AE520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15/10/2025</a:t>
            </a:fld>
            <a:endParaRPr lang="en-US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0FE276CC-41A6-4183-A7CD-A6AEAAD5FA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925695" y="845820"/>
            <a:ext cx="6981825" cy="5372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84907674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B709B-B766-4503-BA71-0AE227C93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Bubble Sort: Demo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B36D59-486F-46B5-8D8A-B3BE15513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DC28AA-FAD7-4FD7-9B99-A20CAF630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15/10/2025</a:t>
            </a:fld>
            <a:endParaRPr lang="en-US" dirty="0"/>
          </a:p>
        </p:txBody>
      </p:sp>
      <p:pic>
        <p:nvPicPr>
          <p:cNvPr id="6" name="Picture 3">
            <a:extLst>
              <a:ext uri="{FF2B5EF4-FFF2-40B4-BE49-F238E27FC236}">
                <a16:creationId xmlns:a16="http://schemas.microsoft.com/office/drawing/2014/main" id="{CB04BB97-9226-4AA5-A7C1-B854A4462F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740" y="1346200"/>
            <a:ext cx="8193464" cy="3784600"/>
          </a:xfrm>
          <a:prstGeom prst="rect">
            <a:avLst/>
          </a:prstGeom>
          <a:noFill/>
          <a:ln w="9525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FC0E118E-982A-41B5-AF1E-24C0212006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932909" y="3617808"/>
            <a:ext cx="5581589" cy="2640752"/>
          </a:xfrm>
          <a:prstGeom prst="rect">
            <a:avLst/>
          </a:prstGeom>
          <a:noFill/>
          <a:ln w="9525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43435951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9B8AD-5711-4F29-A9FF-3728DE80C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1-D Arrays: A Case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96398B-6B49-4028-AE64-CD3394801B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Develop a C-program that helps user managing an 1-D array of integers (maximum of 100 elements) using the following simple menu:</a:t>
            </a:r>
          </a:p>
          <a:p>
            <a:pPr marL="457200" lvl="1" indent="0">
              <a:buNone/>
            </a:pPr>
            <a:r>
              <a:rPr lang="en-US" dirty="0"/>
              <a:t>1- Add  a value</a:t>
            </a:r>
          </a:p>
          <a:p>
            <a:pPr marL="457200" lvl="1" indent="0">
              <a:buNone/>
            </a:pPr>
            <a:r>
              <a:rPr lang="en-US" dirty="0"/>
              <a:t>2- Search a value</a:t>
            </a:r>
          </a:p>
          <a:p>
            <a:pPr marL="457200" lvl="1" indent="0">
              <a:buNone/>
            </a:pPr>
            <a:r>
              <a:rPr lang="en-US" dirty="0"/>
              <a:t>3- Remove the first existence of a value</a:t>
            </a:r>
          </a:p>
          <a:p>
            <a:pPr marL="457200" lvl="1" indent="0">
              <a:buNone/>
            </a:pPr>
            <a:r>
              <a:rPr lang="en-US" dirty="0"/>
              <a:t>4- Remove all existences of a value</a:t>
            </a:r>
          </a:p>
          <a:p>
            <a:pPr marL="457200" lvl="1" indent="0">
              <a:buNone/>
            </a:pPr>
            <a:r>
              <a:rPr lang="en-US" dirty="0"/>
              <a:t>5- Print out the array </a:t>
            </a:r>
          </a:p>
          <a:p>
            <a:pPr marL="457200" lvl="1" indent="0">
              <a:buNone/>
            </a:pPr>
            <a:r>
              <a:rPr lang="en-US" dirty="0"/>
              <a:t>6- Print out the array in ascending order (positions of elements are preserved)</a:t>
            </a:r>
          </a:p>
          <a:p>
            <a:pPr marL="457200" lvl="1" indent="0">
              <a:buNone/>
            </a:pPr>
            <a:r>
              <a:rPr lang="en-US" dirty="0"/>
              <a:t>7- Print out the array in descending order (positions of elements are preserved)</a:t>
            </a:r>
          </a:p>
          <a:p>
            <a:pPr marL="457200" lvl="1" indent="0">
              <a:buNone/>
            </a:pPr>
            <a:r>
              <a:rPr lang="en-US" dirty="0"/>
              <a:t>Others- Quit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423017-D6D1-4048-9370-B47450C36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5C230C-52EB-47A3-8716-CE8FDFA98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15/10/2025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418816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BC89C-5D66-42B1-8411-AB275DBCD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Study: Problem Analyze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0CE20C-02A4-4FBE-997E-BCBC11A919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4236" y="1380139"/>
            <a:ext cx="11085946" cy="3953861"/>
          </a:xfrm>
        </p:spPr>
        <p:txBody>
          <a:bodyPr>
            <a:normAutofit/>
          </a:bodyPr>
          <a:lstStyle/>
          <a:p>
            <a:r>
              <a:rPr lang="en-US" dirty="0"/>
              <a:t>In this program, user can freely add or remove one or more elements to/ from the array. So, an extra memory allocation is needed (100 items).</a:t>
            </a:r>
          </a:p>
          <a:p>
            <a:r>
              <a:rPr lang="en-US" b="1" dirty="0"/>
              <a:t>Data</a:t>
            </a:r>
            <a:r>
              <a:rPr lang="en-US" dirty="0"/>
              <a:t>: </a:t>
            </a:r>
          </a:p>
          <a:p>
            <a:pPr>
              <a:buNone/>
            </a:pPr>
            <a:r>
              <a:rPr lang="en-US" dirty="0"/>
              <a:t>              Array of integers 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/>
              <a:t>int a[100], n</a:t>
            </a:r>
          </a:p>
          <a:p>
            <a:pPr>
              <a:buNone/>
            </a:pPr>
            <a:r>
              <a:rPr lang="en-US" dirty="0"/>
              <a:t>              Searched/added/removed number </a:t>
            </a:r>
            <a:r>
              <a:rPr lang="en-US" dirty="0">
                <a:sym typeface="Wingdings" pitchFamily="2" charset="2"/>
              </a:rPr>
              <a:t> int value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26824A-6C22-4858-B60E-B73564596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5EF18A-1D2B-437C-893C-78402E368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15/10/2025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926852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BC89C-5D66-42B1-8411-AB275DBCD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Study: Problem Analyze (cont.)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26824A-6C22-4858-B60E-B73564596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5EF18A-1D2B-437C-893C-78402E368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15/10/2025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EBD47AB-5631-4165-829E-6231C65520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236" y="1260622"/>
            <a:ext cx="10905487" cy="5220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06291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1C053-0D36-49EB-811A-322714F16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Study: Code Design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69EBFC-8C83-4654-935B-AD94923F1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0EB865-1A95-4A4E-9BEC-52A08EEDD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15/10/2025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38C5D40-76A1-411F-9758-AAF896113B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740" y="1310137"/>
            <a:ext cx="7923320" cy="5025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28759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1C053-0D36-49EB-811A-322714F16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6396" y="95672"/>
            <a:ext cx="4852324" cy="468797"/>
          </a:xfrm>
        </p:spPr>
        <p:txBody>
          <a:bodyPr/>
          <a:lstStyle/>
          <a:p>
            <a:r>
              <a:rPr lang="en-US" dirty="0"/>
              <a:t>Case Study: Code Design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69EBFC-8C83-4654-935B-AD94923F1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0EB865-1A95-4A4E-9BEC-52A08EEDD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15/10/2025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4B751C7-A766-457A-8DBD-3B50752D81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1205" y="950579"/>
            <a:ext cx="8427648" cy="4956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87445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1C053-0D36-49EB-811A-322714F16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6396" y="95672"/>
            <a:ext cx="4852324" cy="468797"/>
          </a:xfrm>
        </p:spPr>
        <p:txBody>
          <a:bodyPr/>
          <a:lstStyle/>
          <a:p>
            <a:r>
              <a:rPr lang="en-US" dirty="0"/>
              <a:t>Case Study: Code Design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69EBFC-8C83-4654-935B-AD94923F1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40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0EB865-1A95-4A4E-9BEC-52A08EEDD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15/10/2025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692EA4E-72E9-40FD-A7A6-34AC8B7703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6609" y="796327"/>
            <a:ext cx="6958782" cy="5452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65377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1C053-0D36-49EB-811A-322714F16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6396" y="95672"/>
            <a:ext cx="4852324" cy="468797"/>
          </a:xfrm>
        </p:spPr>
        <p:txBody>
          <a:bodyPr/>
          <a:lstStyle/>
          <a:p>
            <a:r>
              <a:rPr lang="en-US" dirty="0"/>
              <a:t>Case Study: Code Design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69EBFC-8C83-4654-935B-AD94923F1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41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0EB865-1A95-4A4E-9BEC-52A08EEDD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15/10/2025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102097C-357B-47D5-9143-B56D24EE94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610" y="737111"/>
            <a:ext cx="6324600" cy="3790950"/>
          </a:xfrm>
          <a:prstGeom prst="rect">
            <a:avLst/>
          </a:prstGeom>
          <a:ln>
            <a:solidFill>
              <a:schemeClr val="accent5">
                <a:lumMod val="50000"/>
              </a:schemeClr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3113121-B2D0-4EFF-A042-768FCC50B2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2667" y="3632324"/>
            <a:ext cx="7108723" cy="2569526"/>
          </a:xfrm>
          <a:prstGeom prst="rect">
            <a:avLst/>
          </a:prstGeom>
          <a:ln>
            <a:solidFill>
              <a:schemeClr val="accent5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73782641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1C053-0D36-49EB-811A-322714F16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6396" y="95672"/>
            <a:ext cx="4852324" cy="468797"/>
          </a:xfrm>
        </p:spPr>
        <p:txBody>
          <a:bodyPr/>
          <a:lstStyle/>
          <a:p>
            <a:r>
              <a:rPr lang="en-US" dirty="0"/>
              <a:t>Case Study: Code Design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69EBFC-8C83-4654-935B-AD94923F1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42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0EB865-1A95-4A4E-9BEC-52A08EEDD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15/10/2025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4CA7B69-A0AE-48ED-B148-2EAC391131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0237" y="684134"/>
            <a:ext cx="8391525" cy="567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50377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1C053-0D36-49EB-811A-322714F16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6396" y="95672"/>
            <a:ext cx="4852324" cy="468797"/>
          </a:xfrm>
        </p:spPr>
        <p:txBody>
          <a:bodyPr/>
          <a:lstStyle/>
          <a:p>
            <a:r>
              <a:rPr lang="en-US" dirty="0"/>
              <a:t>Case Study: Code Design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69EBFC-8C83-4654-935B-AD94923F1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43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0EB865-1A95-4A4E-9BEC-52A08EEDD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15/10/2025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4746756-912E-4CEF-87F9-01F6C508547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2975"/>
          <a:stretch/>
        </p:blipFill>
        <p:spPr>
          <a:xfrm>
            <a:off x="396749" y="761774"/>
            <a:ext cx="7292077" cy="3183565"/>
          </a:xfrm>
          <a:prstGeom prst="rect">
            <a:avLst/>
          </a:prstGeom>
          <a:ln>
            <a:solidFill>
              <a:schemeClr val="accent5">
                <a:lumMod val="50000"/>
              </a:schemeClr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6BE0E0B-A7DB-410D-A215-E053C35A9E8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0000"/>
          <a:stretch/>
        </p:blipFill>
        <p:spPr>
          <a:xfrm>
            <a:off x="5181600" y="3148182"/>
            <a:ext cx="6869289" cy="3188707"/>
          </a:xfrm>
          <a:prstGeom prst="rect">
            <a:avLst/>
          </a:prstGeom>
          <a:ln>
            <a:solidFill>
              <a:schemeClr val="accent5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68124905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0ED18-EDDC-42B0-82DC-EC84301B5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4626" y="160657"/>
            <a:ext cx="3180512" cy="468797"/>
          </a:xfrm>
        </p:spPr>
        <p:txBody>
          <a:bodyPr/>
          <a:lstStyle/>
          <a:p>
            <a:r>
              <a:rPr lang="en-US" dirty="0"/>
              <a:t>Compile &amp; Run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31846F-6199-4FCE-B0D6-364024645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44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62A3A6-EB12-434F-B1AB-9E41646A1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15/10/2025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BB396D0-F434-4E69-A13E-5B181CEDFF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759" y="1009035"/>
            <a:ext cx="3379120" cy="250108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4C39134-5559-49A1-A06A-30A81C6EF613}"/>
              </a:ext>
            </a:extLst>
          </p:cNvPr>
          <p:cNvSpPr txBox="1"/>
          <p:nvPr/>
        </p:nvSpPr>
        <p:spPr>
          <a:xfrm>
            <a:off x="277759" y="639703"/>
            <a:ext cx="32249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Input: 9 integer numbers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3E7560C-1331-4A2F-8E2B-E7AF817A2B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5542" y="1009035"/>
            <a:ext cx="3637286" cy="250108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96C7106-8C4B-4BCD-A151-1E6CD69A2615}"/>
              </a:ext>
            </a:extLst>
          </p:cNvPr>
          <p:cNvSpPr txBox="1"/>
          <p:nvPr/>
        </p:nvSpPr>
        <p:spPr>
          <a:xfrm>
            <a:off x="4010076" y="639703"/>
            <a:ext cx="32249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Print all elements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563CFAB-1192-418D-B4C0-981A08BA66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1925" y="1009035"/>
            <a:ext cx="3851222" cy="250108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E09B3D1-274F-4F56-AD30-DD305A3D15F8}"/>
              </a:ext>
            </a:extLst>
          </p:cNvPr>
          <p:cNvSpPr txBox="1"/>
          <p:nvPr/>
        </p:nvSpPr>
        <p:spPr>
          <a:xfrm>
            <a:off x="8105211" y="647994"/>
            <a:ext cx="35361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Print the array in ASC order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4C1EA9B-9BD0-46C1-AEC2-800A5A6F5A03}"/>
              </a:ext>
            </a:extLst>
          </p:cNvPr>
          <p:cNvCxnSpPr/>
          <p:nvPr/>
        </p:nvCxnSpPr>
        <p:spPr>
          <a:xfrm>
            <a:off x="3746090" y="2143433"/>
            <a:ext cx="263986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58369BC-5FC0-45F2-9826-A31465BCA54B}"/>
              </a:ext>
            </a:extLst>
          </p:cNvPr>
          <p:cNvCxnSpPr/>
          <p:nvPr/>
        </p:nvCxnSpPr>
        <p:spPr>
          <a:xfrm>
            <a:off x="7841225" y="2202427"/>
            <a:ext cx="263986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65DF4EF8-C434-4E8D-8A40-06965E7033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1925" y="3959645"/>
            <a:ext cx="3851222" cy="2421173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8881E610-BF07-40CF-9802-2C5730747EB4}"/>
              </a:ext>
            </a:extLst>
          </p:cNvPr>
          <p:cNvSpPr txBox="1"/>
          <p:nvPr/>
        </p:nvSpPr>
        <p:spPr>
          <a:xfrm>
            <a:off x="8105210" y="3609998"/>
            <a:ext cx="35361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Print the array in DESC order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97F57E9-BCB4-4A17-BFB5-7A1DE5B2F9B3}"/>
              </a:ext>
            </a:extLst>
          </p:cNvPr>
          <p:cNvCxnSpPr>
            <a:cxnSpLocks/>
          </p:cNvCxnSpPr>
          <p:nvPr/>
        </p:nvCxnSpPr>
        <p:spPr>
          <a:xfrm>
            <a:off x="11429260" y="3609998"/>
            <a:ext cx="0" cy="245806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Picture 23">
            <a:extLst>
              <a:ext uri="{FF2B5EF4-FFF2-40B4-BE49-F238E27FC236}">
                <a16:creationId xmlns:a16="http://schemas.microsoft.com/office/drawing/2014/main" id="{A234D238-638A-49F8-8829-5D6A75166E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5543" y="3989162"/>
            <a:ext cx="3637286" cy="2381455"/>
          </a:xfrm>
          <a:prstGeom prst="rect">
            <a:avLst/>
          </a:prstGeom>
        </p:spPr>
      </p:pic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E36E5B2-A936-4A49-81FA-25A28ECFED65}"/>
              </a:ext>
            </a:extLst>
          </p:cNvPr>
          <p:cNvCxnSpPr>
            <a:cxnSpLocks/>
          </p:cNvCxnSpPr>
          <p:nvPr/>
        </p:nvCxnSpPr>
        <p:spPr>
          <a:xfrm flipH="1">
            <a:off x="7841225" y="5133998"/>
            <a:ext cx="259815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9BB51207-53BF-413F-A6C8-59146F03C641}"/>
              </a:ext>
            </a:extLst>
          </p:cNvPr>
          <p:cNvSpPr txBox="1"/>
          <p:nvPr/>
        </p:nvSpPr>
        <p:spPr>
          <a:xfrm>
            <a:off x="4086791" y="3609998"/>
            <a:ext cx="35361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Search a value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9B773649-D2BA-4203-9323-182A7CE3B94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7760" y="3989162"/>
            <a:ext cx="3379120" cy="2359289"/>
          </a:xfrm>
          <a:prstGeom prst="rect">
            <a:avLst/>
          </a:prstGeom>
        </p:spPr>
      </p:pic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6A4DCA8-0FFD-443E-9702-1DD679DC7C7B}"/>
              </a:ext>
            </a:extLst>
          </p:cNvPr>
          <p:cNvCxnSpPr>
            <a:cxnSpLocks/>
          </p:cNvCxnSpPr>
          <p:nvPr/>
        </p:nvCxnSpPr>
        <p:spPr>
          <a:xfrm flipH="1">
            <a:off x="3746090" y="5094669"/>
            <a:ext cx="259815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C476C0DF-9786-4944-96E6-D25B8AF8FAFD}"/>
              </a:ext>
            </a:extLst>
          </p:cNvPr>
          <p:cNvSpPr txBox="1"/>
          <p:nvPr/>
        </p:nvSpPr>
        <p:spPr>
          <a:xfrm>
            <a:off x="187606" y="3634091"/>
            <a:ext cx="35361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Remove the first exist of value</a:t>
            </a:r>
          </a:p>
        </p:txBody>
      </p:sp>
    </p:spTree>
    <p:extLst>
      <p:ext uri="{BB962C8B-B14F-4D97-AF65-F5344CB8AC3E}">
        <p14:creationId xmlns:p14="http://schemas.microsoft.com/office/powerpoint/2010/main" val="248506914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BEFC6-89F6-46B4-A834-E4FB6D411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4: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DB4EC3-BF23-4DF7-BA01-95DF5DB5CF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4236" y="1211023"/>
            <a:ext cx="11085946" cy="5122712"/>
          </a:xfrm>
        </p:spPr>
        <p:txBody>
          <a:bodyPr>
            <a:noAutofit/>
          </a:bodyPr>
          <a:lstStyle/>
          <a:p>
            <a:r>
              <a:rPr lang="en-US" dirty="0"/>
              <a:t>Develop a C-program that helps user managing an 1-D array of real numbers (maximum of 100 elements) using the following simple menu:</a:t>
            </a:r>
          </a:p>
          <a:p>
            <a:pPr marL="457200" lvl="1" indent="0">
              <a:buNone/>
            </a:pPr>
            <a:r>
              <a:rPr lang="en-US" sz="2400" dirty="0"/>
              <a:t>1- Add  a value</a:t>
            </a:r>
          </a:p>
          <a:p>
            <a:pPr marL="457200" lvl="1" indent="0">
              <a:buNone/>
            </a:pPr>
            <a:r>
              <a:rPr lang="en-US" sz="2400" dirty="0"/>
              <a:t>2- Search a value</a:t>
            </a:r>
          </a:p>
          <a:p>
            <a:pPr marL="457200" lvl="1" indent="0">
              <a:buNone/>
            </a:pPr>
            <a:r>
              <a:rPr lang="en-US" sz="2400" dirty="0"/>
              <a:t>3- Print out the array </a:t>
            </a:r>
          </a:p>
          <a:p>
            <a:pPr marL="457200" lvl="1" indent="0">
              <a:buNone/>
            </a:pPr>
            <a:r>
              <a:rPr lang="en-US" sz="2400" dirty="0"/>
              <a:t>4- Print out values in a range (</a:t>
            </a:r>
            <a:r>
              <a:rPr lang="en-US" sz="2400" dirty="0" err="1"/>
              <a:t>minVal</a:t>
            </a:r>
            <a:r>
              <a:rPr lang="en-US" sz="2400" dirty="0"/>
              <a:t>&lt;=value&lt;=</a:t>
            </a:r>
            <a:r>
              <a:rPr lang="en-US" sz="2400" dirty="0" err="1"/>
              <a:t>maxVal</a:t>
            </a:r>
            <a:r>
              <a:rPr lang="en-US" sz="2400" dirty="0"/>
              <a:t>, </a:t>
            </a:r>
            <a:r>
              <a:rPr lang="en-US" sz="2400" dirty="0" err="1"/>
              <a:t>minVal</a:t>
            </a:r>
            <a:r>
              <a:rPr lang="en-US" sz="2400" dirty="0"/>
              <a:t> and </a:t>
            </a:r>
            <a:r>
              <a:rPr lang="en-US" sz="2400" dirty="0" err="1"/>
              <a:t>maxVal</a:t>
            </a:r>
            <a:r>
              <a:rPr lang="en-US" sz="2400" dirty="0"/>
              <a:t> are inputted)</a:t>
            </a:r>
          </a:p>
          <a:p>
            <a:pPr marL="457200" lvl="1" indent="0">
              <a:buNone/>
            </a:pPr>
            <a:r>
              <a:rPr lang="en-US" sz="2400" dirty="0"/>
              <a:t>5- Print out the array in ascending order (positions of elements are preserved)</a:t>
            </a:r>
          </a:p>
          <a:p>
            <a:pPr marL="457200" lvl="1" indent="0">
              <a:buNone/>
            </a:pPr>
            <a:r>
              <a:rPr lang="en-US" sz="2400" dirty="0"/>
              <a:t>Others- Quit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E993ED-72F2-468F-B16A-890290136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45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CC8F61-6BEE-49E8-A168-A1372BC7D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15/10/2025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762274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958CE-CE56-4211-AC12-A04A211C1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4 - Two-Dimensional 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561414-5855-452E-89D4-D8AD2B7F37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group of elements which belong the same data type and they are divided into some rows and some column (it is called as matrix also).</a:t>
            </a:r>
          </a:p>
          <a:p>
            <a:r>
              <a:rPr lang="en-US" dirty="0"/>
              <a:t>Each element is identified by two indexes (index of row, index of column).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12EF92-1EB7-4C20-A526-B4E09DA7C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46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1CE2B5-299D-4673-9D6F-2EC613906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15/10/2025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90A0C26-F867-4801-9F36-8C0A1B47F2AE}"/>
              </a:ext>
            </a:extLst>
          </p:cNvPr>
          <p:cNvGrpSpPr/>
          <p:nvPr/>
        </p:nvGrpSpPr>
        <p:grpSpPr>
          <a:xfrm>
            <a:off x="7539182" y="3894244"/>
            <a:ext cx="4191000" cy="1554480"/>
            <a:chOff x="3200400" y="4991100"/>
            <a:chExt cx="4191000" cy="1257300"/>
          </a:xfrm>
        </p:grpSpPr>
        <p:pic>
          <p:nvPicPr>
            <p:cNvPr id="7" name="Picture 2">
              <a:extLst>
                <a:ext uri="{FF2B5EF4-FFF2-40B4-BE49-F238E27FC236}">
                  <a16:creationId xmlns:a16="http://schemas.microsoft.com/office/drawing/2014/main" id="{B17B4244-0FF5-41CD-8694-39D38D9B710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4191000" y="5295900"/>
              <a:ext cx="1924050" cy="9525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EE345BE-7EA0-4346-846B-CA2065D3F5DC}"/>
                </a:ext>
              </a:extLst>
            </p:cNvPr>
            <p:cNvSpPr/>
            <p:nvPr/>
          </p:nvSpPr>
          <p:spPr>
            <a:xfrm>
              <a:off x="3886200" y="5219700"/>
              <a:ext cx="457200" cy="304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m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557AA26-D780-4F29-BBD6-0BA5EE16BF65}"/>
                </a:ext>
              </a:extLst>
            </p:cNvPr>
            <p:cNvSpPr/>
            <p:nvPr/>
          </p:nvSpPr>
          <p:spPr>
            <a:xfrm>
              <a:off x="3200400" y="5676900"/>
              <a:ext cx="838200" cy="304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row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BA74105-761F-40A2-A6E3-150DA7C581CF}"/>
                </a:ext>
              </a:extLst>
            </p:cNvPr>
            <p:cNvSpPr/>
            <p:nvPr/>
          </p:nvSpPr>
          <p:spPr>
            <a:xfrm>
              <a:off x="4724400" y="4991100"/>
              <a:ext cx="1219200" cy="304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column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1DDDBC1-42EB-4CF7-852D-3AC09115394D}"/>
                </a:ext>
              </a:extLst>
            </p:cNvPr>
            <p:cNvSpPr/>
            <p:nvPr/>
          </p:nvSpPr>
          <p:spPr>
            <a:xfrm>
              <a:off x="6324600" y="5295900"/>
              <a:ext cx="1066800" cy="3048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m[1][3]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CE9F4565-F357-4F56-802D-AED4C0CA0F99}"/>
                </a:ext>
              </a:extLst>
            </p:cNvPr>
            <p:cNvCxnSpPr>
              <a:stCxn id="11" idx="1"/>
            </p:cNvCxnSpPr>
            <p:nvPr/>
          </p:nvCxnSpPr>
          <p:spPr>
            <a:xfrm rot="10800000" flipV="1">
              <a:off x="5715000" y="5448300"/>
              <a:ext cx="609600" cy="381000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8FC19B74-240C-4B79-9705-6E4E5AA2EBF5}"/>
              </a:ext>
            </a:extLst>
          </p:cNvPr>
          <p:cNvSpPr/>
          <p:nvPr/>
        </p:nvSpPr>
        <p:spPr>
          <a:xfrm>
            <a:off x="1157432" y="3210560"/>
            <a:ext cx="6096000" cy="2921848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u="sng" dirty="0">
                <a:latin typeface="+mj-lt"/>
                <a:cs typeface="Times New Roman" pitchFamily="18" charset="0"/>
              </a:rPr>
              <a:t>Traversing a matrix</a:t>
            </a:r>
            <a:r>
              <a:rPr lang="en-US" sz="2400" dirty="0">
                <a:latin typeface="+mj-lt"/>
                <a:cs typeface="Times New Roman" pitchFamily="18" charset="0"/>
              </a:rPr>
              <a:t>:</a:t>
            </a:r>
          </a:p>
          <a:p>
            <a:endParaRPr lang="en-US" sz="2400" dirty="0">
              <a:latin typeface="+mj-lt"/>
              <a:cs typeface="Times New Roman" pitchFamily="18" charset="0"/>
            </a:endParaRPr>
          </a:p>
          <a:p>
            <a:r>
              <a:rPr lang="en-US" sz="2400" dirty="0">
                <a:latin typeface="+mj-lt"/>
                <a:cs typeface="Times New Roman" pitchFamily="18" charset="0"/>
              </a:rPr>
              <a:t>for ( i =0; i&lt;row; i++)</a:t>
            </a:r>
          </a:p>
          <a:p>
            <a:r>
              <a:rPr lang="en-US" sz="2400" dirty="0">
                <a:latin typeface="+mj-lt"/>
                <a:cs typeface="Times New Roman" pitchFamily="18" charset="0"/>
              </a:rPr>
              <a:t>{   </a:t>
            </a:r>
          </a:p>
          <a:p>
            <a:r>
              <a:rPr lang="en-US" sz="2400" dirty="0">
                <a:latin typeface="+mj-lt"/>
                <a:cs typeface="Times New Roman" pitchFamily="18" charset="0"/>
              </a:rPr>
              <a:t>	for ( j=0; j&lt; column; j++) </a:t>
            </a:r>
          </a:p>
          <a:p>
            <a:r>
              <a:rPr lang="en-US" sz="2400" dirty="0">
                <a:latin typeface="+mj-lt"/>
                <a:cs typeface="Times New Roman" pitchFamily="18" charset="0"/>
              </a:rPr>
              <a:t>           	</a:t>
            </a:r>
            <a:r>
              <a:rPr lang="en-US" sz="2400" dirty="0">
                <a:solidFill>
                  <a:srgbClr val="FFCC00"/>
                </a:solidFill>
                <a:latin typeface="+mj-lt"/>
                <a:cs typeface="Times New Roman" pitchFamily="18" charset="0"/>
              </a:rPr>
              <a:t>[if (condition)]</a:t>
            </a:r>
            <a:r>
              <a:rPr lang="en-US" sz="2400" dirty="0">
                <a:latin typeface="+mj-lt"/>
                <a:cs typeface="Times New Roman" pitchFamily="18" charset="0"/>
              </a:rPr>
              <a:t> Access m[i][j];</a:t>
            </a:r>
          </a:p>
          <a:p>
            <a:r>
              <a:rPr lang="en-US" sz="2400" dirty="0">
                <a:latin typeface="+mj-lt"/>
                <a:cs typeface="Times New Roman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4009124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841E6-D5BB-4AF4-A945-C6F3623B8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Two-Dimensional Arrays: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063C21-E350-46B0-AF33-52A665811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47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C53369-8AE6-4C3C-848D-E5CD2CFB1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15/10/2025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FAF5621-3038-4656-A463-67E2C058F4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895" y="1321788"/>
            <a:ext cx="6081251" cy="503151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A055A21-5355-4D0C-A8F8-B165337970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8260" y="1842100"/>
            <a:ext cx="4191000" cy="4114800"/>
          </a:xfrm>
          <a:prstGeom prst="rect">
            <a:avLst/>
          </a:prstGeom>
          <a:ln>
            <a:solidFill>
              <a:srgbClr val="002060"/>
            </a:solidFill>
          </a:ln>
        </p:spPr>
      </p:pic>
    </p:spTree>
    <p:extLst>
      <p:ext uri="{BB962C8B-B14F-4D97-AF65-F5344CB8AC3E}">
        <p14:creationId xmlns:p14="http://schemas.microsoft.com/office/powerpoint/2010/main" val="314645822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841E6-D5BB-4AF4-A945-C6F3623B8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Two-Dimensional Arrays: Example (cont.)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063C21-E350-46B0-AF33-52A665811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48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C53369-8AE6-4C3C-848D-E5CD2CFB1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15/10/2025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CEAD32B-7AD6-454E-B17F-D62F4DB759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5896" y="1339184"/>
            <a:ext cx="8852069" cy="4923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47651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4DBD9-8517-4B12-A501-F1CBBD5DA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4236" y="656768"/>
            <a:ext cx="11085946" cy="468797"/>
          </a:xfrm>
        </p:spPr>
        <p:txBody>
          <a:bodyPr/>
          <a:lstStyle/>
          <a:p>
            <a:r>
              <a:rPr lang="en-US" sz="3500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837785-3E16-4420-84C2-4E8B774DD0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4236" y="1201193"/>
            <a:ext cx="11085946" cy="534709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Array is the simplest data structure for a group of elements which belong to the same data type.</a:t>
            </a:r>
          </a:p>
          <a:p>
            <a:r>
              <a:rPr lang="en-US" dirty="0"/>
              <a:t>Each element in an array is identified by one or more index beginning from 0.</a:t>
            </a:r>
          </a:p>
          <a:p>
            <a:r>
              <a:rPr lang="en-US" dirty="0"/>
              <a:t>Number of dimensions: Number of indexes are used to identify an element.</a:t>
            </a:r>
          </a:p>
          <a:p>
            <a:r>
              <a:rPr lang="en-US" dirty="0"/>
              <a:t>Static arrays </a:t>
            </a:r>
            <a:r>
              <a:rPr lang="en-US" dirty="0">
                <a:sym typeface="Wingdings" pitchFamily="2" charset="2"/>
              </a:rPr>
              <a:t> Stack segment</a:t>
            </a:r>
          </a:p>
          <a:p>
            <a:pPr lvl="1">
              <a:buNone/>
            </a:pPr>
            <a:r>
              <a:rPr lang="en-US" dirty="0" err="1">
                <a:solidFill>
                  <a:srgbClr val="FF0000"/>
                </a:solidFill>
                <a:sym typeface="Wingdings" pitchFamily="2" charset="2"/>
              </a:rPr>
              <a:t>DataType</a:t>
            </a:r>
            <a:r>
              <a:rPr lang="en-US" dirty="0">
                <a:solidFill>
                  <a:srgbClr val="FF0000"/>
                </a:solidFill>
                <a:sym typeface="Wingdings" pitchFamily="2" charset="2"/>
              </a:rPr>
              <a:t> a[MAXN];</a:t>
            </a:r>
          </a:p>
          <a:p>
            <a:pPr lvl="1">
              <a:buNone/>
            </a:pPr>
            <a:r>
              <a:rPr lang="en-US" dirty="0" err="1">
                <a:solidFill>
                  <a:srgbClr val="0000FF"/>
                </a:solidFill>
                <a:sym typeface="Wingdings" pitchFamily="2" charset="2"/>
              </a:rPr>
              <a:t>DataType</a:t>
            </a:r>
            <a:r>
              <a:rPr lang="en-US" dirty="0">
                <a:solidFill>
                  <a:srgbClr val="0000FF"/>
                </a:solidFill>
                <a:sym typeface="Wingdings" pitchFamily="2" charset="2"/>
              </a:rPr>
              <a:t> m[MAXROW][MAXCOL];</a:t>
            </a:r>
            <a:endParaRPr lang="en-US" dirty="0">
              <a:sym typeface="Wingdings" pitchFamily="2" charset="2"/>
            </a:endParaRPr>
          </a:p>
          <a:p>
            <a:r>
              <a:rPr lang="en-US" dirty="0">
                <a:sym typeface="Wingdings" pitchFamily="2" charset="2"/>
              </a:rPr>
              <a:t>Dynamic array: Use pointer and allocate memory using functions</a:t>
            </a:r>
          </a:p>
          <a:p>
            <a:pPr lvl="1">
              <a:buNone/>
            </a:pPr>
            <a:r>
              <a:rPr lang="en-US" dirty="0">
                <a:solidFill>
                  <a:srgbClr val="FF0000"/>
                </a:solidFill>
                <a:sym typeface="Wingdings" pitchFamily="2" charset="2"/>
              </a:rPr>
              <a:t>double *a = (double*)</a:t>
            </a:r>
            <a:r>
              <a:rPr lang="en-US" dirty="0" err="1">
                <a:solidFill>
                  <a:srgbClr val="FF0000"/>
                </a:solidFill>
                <a:sym typeface="Wingdings" pitchFamily="2" charset="2"/>
              </a:rPr>
              <a:t>calloc</a:t>
            </a:r>
            <a:r>
              <a:rPr lang="en-US" dirty="0">
                <a:solidFill>
                  <a:srgbClr val="FF0000"/>
                </a:solidFill>
                <a:sym typeface="Wingdings" pitchFamily="2" charset="2"/>
              </a:rPr>
              <a:t>(n, </a:t>
            </a:r>
            <a:r>
              <a:rPr lang="en-US" dirty="0" err="1">
                <a:solidFill>
                  <a:srgbClr val="FF0000"/>
                </a:solidFill>
                <a:sym typeface="Wingdings" pitchFamily="2" charset="2"/>
              </a:rPr>
              <a:t>sizeof</a:t>
            </a:r>
            <a:r>
              <a:rPr lang="en-US" dirty="0">
                <a:solidFill>
                  <a:srgbClr val="FF0000"/>
                </a:solidFill>
                <a:sym typeface="Wingdings" pitchFamily="2" charset="2"/>
              </a:rPr>
              <a:t>(double));</a:t>
            </a:r>
          </a:p>
          <a:p>
            <a:pPr lvl="1">
              <a:buNone/>
            </a:pPr>
            <a:r>
              <a:rPr lang="en-US" dirty="0">
                <a:solidFill>
                  <a:srgbClr val="0000FF"/>
                </a:solidFill>
                <a:sym typeface="Wingdings" pitchFamily="2" charset="2"/>
              </a:rPr>
              <a:t>int** m = (int**) </a:t>
            </a:r>
            <a:r>
              <a:rPr lang="en-US" dirty="0" err="1">
                <a:solidFill>
                  <a:srgbClr val="0000FF"/>
                </a:solidFill>
                <a:sym typeface="Wingdings" pitchFamily="2" charset="2"/>
              </a:rPr>
              <a:t>calloc</a:t>
            </a:r>
            <a:r>
              <a:rPr lang="en-US" dirty="0">
                <a:solidFill>
                  <a:srgbClr val="0000FF"/>
                </a:solidFill>
                <a:sym typeface="Wingdings" pitchFamily="2" charset="2"/>
              </a:rPr>
              <a:t>(row, </a:t>
            </a:r>
            <a:r>
              <a:rPr lang="en-US" dirty="0" err="1">
                <a:solidFill>
                  <a:srgbClr val="0000FF"/>
                </a:solidFill>
                <a:sym typeface="Wingdings" pitchFamily="2" charset="2"/>
              </a:rPr>
              <a:t>sizeof</a:t>
            </a:r>
            <a:r>
              <a:rPr lang="en-US" dirty="0">
                <a:solidFill>
                  <a:srgbClr val="0000FF"/>
                </a:solidFill>
                <a:sym typeface="Wingdings" pitchFamily="2" charset="2"/>
              </a:rPr>
              <a:t>(int*));</a:t>
            </a:r>
          </a:p>
          <a:p>
            <a:pPr lvl="1">
              <a:buNone/>
            </a:pPr>
            <a:r>
              <a:rPr lang="en-US" dirty="0">
                <a:solidFill>
                  <a:srgbClr val="0000FF"/>
                </a:solidFill>
                <a:sym typeface="Wingdings" pitchFamily="2" charset="2"/>
              </a:rPr>
              <a:t>for (</a:t>
            </a:r>
            <a:r>
              <a:rPr lang="en-US" dirty="0" err="1">
                <a:solidFill>
                  <a:srgbClr val="0000FF"/>
                </a:solidFill>
                <a:sym typeface="Wingdings" pitchFamily="2" charset="2"/>
              </a:rPr>
              <a:t>i</a:t>
            </a:r>
            <a:r>
              <a:rPr lang="en-US" dirty="0">
                <a:solidFill>
                  <a:srgbClr val="0000FF"/>
                </a:solidFill>
                <a:sym typeface="Wingdings" pitchFamily="2" charset="2"/>
              </a:rPr>
              <a:t>=0; </a:t>
            </a:r>
            <a:r>
              <a:rPr lang="en-US" dirty="0" err="1">
                <a:solidFill>
                  <a:srgbClr val="0000FF"/>
                </a:solidFill>
                <a:sym typeface="Wingdings" pitchFamily="2" charset="2"/>
              </a:rPr>
              <a:t>i</a:t>
            </a:r>
            <a:r>
              <a:rPr lang="en-US" dirty="0">
                <a:solidFill>
                  <a:srgbClr val="0000FF"/>
                </a:solidFill>
                <a:sym typeface="Wingdings" pitchFamily="2" charset="2"/>
              </a:rPr>
              <a:t>&lt;row; </a:t>
            </a:r>
            <a:r>
              <a:rPr lang="en-US" dirty="0" err="1">
                <a:solidFill>
                  <a:srgbClr val="0000FF"/>
                </a:solidFill>
                <a:sym typeface="Wingdings" pitchFamily="2" charset="2"/>
              </a:rPr>
              <a:t>i</a:t>
            </a:r>
            <a:r>
              <a:rPr lang="en-US" dirty="0">
                <a:solidFill>
                  <a:srgbClr val="0000FF"/>
                </a:solidFill>
                <a:sym typeface="Wingdings" pitchFamily="2" charset="2"/>
              </a:rPr>
              <a:t>++) m[</a:t>
            </a:r>
            <a:r>
              <a:rPr lang="en-US" dirty="0" err="1">
                <a:solidFill>
                  <a:srgbClr val="0000FF"/>
                </a:solidFill>
                <a:sym typeface="Wingdings" pitchFamily="2" charset="2"/>
              </a:rPr>
              <a:t>i</a:t>
            </a:r>
            <a:r>
              <a:rPr lang="en-US" dirty="0">
                <a:solidFill>
                  <a:srgbClr val="0000FF"/>
                </a:solidFill>
                <a:sym typeface="Wingdings" pitchFamily="2" charset="2"/>
              </a:rPr>
              <a:t>]= (int*)</a:t>
            </a:r>
            <a:r>
              <a:rPr lang="en-US" dirty="0" err="1">
                <a:solidFill>
                  <a:srgbClr val="0000FF"/>
                </a:solidFill>
                <a:sym typeface="Wingdings" pitchFamily="2" charset="2"/>
              </a:rPr>
              <a:t>calloc</a:t>
            </a:r>
            <a:r>
              <a:rPr lang="en-US" dirty="0">
                <a:solidFill>
                  <a:srgbClr val="0000FF"/>
                </a:solidFill>
                <a:sym typeface="Wingdings" pitchFamily="2" charset="2"/>
              </a:rPr>
              <a:t>(col, </a:t>
            </a:r>
            <a:r>
              <a:rPr lang="en-US" dirty="0" err="1">
                <a:solidFill>
                  <a:srgbClr val="0000FF"/>
                </a:solidFill>
                <a:sym typeface="Wingdings" pitchFamily="2" charset="2"/>
              </a:rPr>
              <a:t>sizeof</a:t>
            </a:r>
            <a:r>
              <a:rPr lang="en-US" dirty="0">
                <a:solidFill>
                  <a:srgbClr val="0000FF"/>
                </a:solidFill>
                <a:sym typeface="Wingdings" pitchFamily="2" charset="2"/>
              </a:rPr>
              <a:t>(int));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C9EEEA-142A-46BC-9AB2-F2F1BE8F0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49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A65C48-08BB-427B-839C-25E76BAE3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15/10/2025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906308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4DBD9-8517-4B12-A501-F1CBBD5DA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500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837785-3E16-4420-84C2-4E8B774DD0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4236" y="1270017"/>
            <a:ext cx="11085946" cy="5347093"/>
          </a:xfrm>
        </p:spPr>
        <p:txBody>
          <a:bodyPr>
            <a:normAutofit/>
          </a:bodyPr>
          <a:lstStyle/>
          <a:p>
            <a:r>
              <a:rPr lang="en-US" dirty="0"/>
              <a:t>Accessing elements in an array:</a:t>
            </a:r>
          </a:p>
          <a:p>
            <a:pPr marL="0" indent="0">
              <a:buNone/>
            </a:pPr>
            <a:endParaRPr lang="en-US" dirty="0">
              <a:sym typeface="Wingdings" pitchFamily="2" charset="2"/>
            </a:endParaRPr>
          </a:p>
          <a:p>
            <a:pPr marL="0" indent="0">
              <a:buNone/>
            </a:pPr>
            <a:endParaRPr lang="en-US" dirty="0">
              <a:sym typeface="Wingdings" pitchFamily="2" charset="2"/>
            </a:endParaRPr>
          </a:p>
          <a:p>
            <a:pPr marL="0" indent="0">
              <a:buNone/>
            </a:pPr>
            <a:endParaRPr lang="en-US" dirty="0">
              <a:sym typeface="Wingdings" pitchFamily="2" charset="2"/>
            </a:endParaRP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Common operations on arrays: </a:t>
            </a:r>
          </a:p>
          <a:p>
            <a:pPr lvl="1"/>
            <a:r>
              <a:rPr lang="en-US" dirty="0"/>
              <a:t>Add an element</a:t>
            </a:r>
          </a:p>
          <a:p>
            <a:pPr lvl="1"/>
            <a:r>
              <a:rPr lang="en-US" dirty="0"/>
              <a:t>Search an element</a:t>
            </a:r>
          </a:p>
          <a:p>
            <a:pPr lvl="1"/>
            <a:r>
              <a:rPr lang="en-US" dirty="0"/>
              <a:t>Remove an element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C9EEEA-142A-46BC-9AB2-F2F1BE8F0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50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A65C48-08BB-427B-839C-25E76BAE3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15/10/2025</a:t>
            </a:fld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0F285AF-005A-419B-9B10-53208665E0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3212845"/>
              </p:ext>
            </p:extLst>
          </p:nvPr>
        </p:nvGraphicFramePr>
        <p:xfrm>
          <a:off x="1107848" y="1887194"/>
          <a:ext cx="10321412" cy="219456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25803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03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803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803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6048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1-D Array (a)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2-D Array (m)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48">
                <a:tc>
                  <a:txBody>
                    <a:bodyPr/>
                    <a:lstStyle/>
                    <a:p>
                      <a:r>
                        <a:rPr lang="en-US" b="1" dirty="0"/>
                        <a:t>Address</a:t>
                      </a:r>
                      <a:endParaRPr lang="en-US" b="1" i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Value</a:t>
                      </a:r>
                      <a:endParaRPr lang="en-US" b="1" i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Address</a:t>
                      </a:r>
                      <a:endParaRPr lang="en-US" b="1" i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Value</a:t>
                      </a:r>
                      <a:endParaRPr lang="en-US" b="1" i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48">
                <a:tc>
                  <a:txBody>
                    <a:bodyPr/>
                    <a:lstStyle/>
                    <a:p>
                      <a:r>
                        <a:rPr lang="en-US" dirty="0"/>
                        <a:t>&amp;a[index]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a[index]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&amp;m[i][j]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m[i][j]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48">
                <a:tc>
                  <a:txBody>
                    <a:bodyPr/>
                    <a:lstStyle/>
                    <a:p>
                      <a:r>
                        <a:rPr lang="en-US" dirty="0"/>
                        <a:t>a+index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*(a+index)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48">
                <a:tc gridSpan="4"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Compiler determines</a:t>
                      </a:r>
                      <a:r>
                        <a:rPr lang="en-US" b="1" baseline="0" dirty="0"/>
                        <a:t> the address of an element: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48">
                <a:tc gridSpan="2"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  <a:r>
                        <a:rPr lang="en-US" baseline="0" dirty="0"/>
                        <a:t> + index*sizeof(DataType)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dirty="0"/>
                        <a:t>m + (i*NumCol + j)*sizeof(DataType)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C3A6EC2-3C4A-457D-A5CA-CBEBB05BE07E}"/>
              </a:ext>
            </a:extLst>
          </p:cNvPr>
          <p:cNvSpPr txBox="1"/>
          <p:nvPr/>
        </p:nvSpPr>
        <p:spPr>
          <a:xfrm>
            <a:off x="4925960" y="4698931"/>
            <a:ext cx="5830527" cy="1553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Input</a:t>
            </a:r>
          </a:p>
          <a:p>
            <a:pPr marL="2857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Output</a:t>
            </a:r>
          </a:p>
          <a:p>
            <a:pPr marL="2857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Sort</a:t>
            </a:r>
          </a:p>
        </p:txBody>
      </p:sp>
    </p:spTree>
    <p:extLst>
      <p:ext uri="{BB962C8B-B14F-4D97-AF65-F5344CB8AC3E}">
        <p14:creationId xmlns:p14="http://schemas.microsoft.com/office/powerpoint/2010/main" val="345237020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94865" y="1668729"/>
            <a:ext cx="9202270" cy="1760271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anchor="ctr">
            <a:normAutofit/>
          </a:bodyPr>
          <a:lstStyle/>
          <a:p>
            <a:r>
              <a:rPr lang="en-US" altLang="ko-KR" sz="44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Structures</a:t>
            </a:r>
            <a:endParaRPr lang="en-US" sz="4400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196909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9BA8A-46F9-4C85-9591-2F332FEED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500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45A1DB-008A-4E05-9D7C-5C2B73879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600" dirty="0"/>
              <a:t>After studying this section, you should be able to:</a:t>
            </a:r>
          </a:p>
          <a:p>
            <a:pPr>
              <a:lnSpc>
                <a:spcPct val="150000"/>
              </a:lnSpc>
            </a:pPr>
            <a:r>
              <a:rPr lang="en-US" sz="2600" dirty="0"/>
              <a:t>What is C structure?</a:t>
            </a:r>
          </a:p>
          <a:p>
            <a:pPr>
              <a:lnSpc>
                <a:spcPct val="150000"/>
              </a:lnSpc>
            </a:pPr>
            <a:r>
              <a:rPr lang="en-US" sz="2600" dirty="0"/>
              <a:t>When to use structures.</a:t>
            </a:r>
          </a:p>
          <a:p>
            <a:pPr>
              <a:lnSpc>
                <a:spcPct val="150000"/>
              </a:lnSpc>
            </a:pPr>
            <a:r>
              <a:rPr lang="en-US" sz="2600" dirty="0"/>
              <a:t>Syntax of a structure.</a:t>
            </a:r>
          </a:p>
          <a:p>
            <a:pPr>
              <a:lnSpc>
                <a:spcPct val="150000"/>
              </a:lnSpc>
            </a:pPr>
            <a:r>
              <a:rPr lang="en-US" sz="2600" dirty="0"/>
              <a:t>How to declare variable of type structure?</a:t>
            </a:r>
          </a:p>
          <a:p>
            <a:pPr>
              <a:lnSpc>
                <a:spcPct val="150000"/>
              </a:lnSpc>
            </a:pPr>
            <a:r>
              <a:rPr lang="en-US" sz="2600" dirty="0"/>
              <a:t>Fields of a structure and how to initialize them.</a:t>
            </a:r>
          </a:p>
          <a:p>
            <a:pPr>
              <a:lnSpc>
                <a:spcPct val="150000"/>
              </a:lnSpc>
            </a:pPr>
            <a:r>
              <a:rPr lang="en-US" sz="2600" dirty="0"/>
              <a:t>How to manipulate structure type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2B0118-886E-4795-9E61-279D3079B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52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CDB335-C644-4E4E-9C49-51CC367A2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15/10/2025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465910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9EF9F-0393-45C6-9773-A59427648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867F49-C4C3-4B1C-BBE9-2D9C40C9CB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SzPct val="100000"/>
              <a:buFont typeface="+mj-lt"/>
              <a:buAutoNum type="arabicPeriod"/>
            </a:pPr>
            <a:r>
              <a:rPr lang="en-US" sz="2600" dirty="0"/>
              <a:t>Structure Definition</a:t>
            </a:r>
          </a:p>
          <a:p>
            <a:pPr marL="457200" indent="-457200">
              <a:lnSpc>
                <a:spcPct val="150000"/>
              </a:lnSpc>
              <a:buSzPct val="100000"/>
              <a:buFont typeface="+mj-lt"/>
              <a:buAutoNum type="arabicPeriod"/>
            </a:pPr>
            <a:r>
              <a:rPr lang="en-US" sz="2600" dirty="0"/>
              <a:t>Struct Syntax</a:t>
            </a:r>
          </a:p>
          <a:p>
            <a:pPr marL="457200" indent="-457200">
              <a:lnSpc>
                <a:spcPct val="150000"/>
              </a:lnSpc>
              <a:buSzPct val="100000"/>
              <a:buFont typeface="+mj-lt"/>
              <a:buAutoNum type="arabicPeriod"/>
            </a:pPr>
            <a:r>
              <a:rPr lang="en-US" sz="2600" dirty="0"/>
              <a:t>Manipulating Structure Types</a:t>
            </a:r>
          </a:p>
          <a:p>
            <a:pPr marL="457200" indent="-457200">
              <a:lnSpc>
                <a:spcPct val="150000"/>
              </a:lnSpc>
              <a:buSzPct val="100000"/>
              <a:buFont typeface="+mj-lt"/>
              <a:buAutoNum type="arabicPeriod"/>
            </a:pPr>
            <a:r>
              <a:rPr lang="en-US" sz="2600" dirty="0"/>
              <a:t>Arrays of Structures</a:t>
            </a:r>
          </a:p>
          <a:p>
            <a:pPr marL="457200" indent="-457200">
              <a:lnSpc>
                <a:spcPct val="150000"/>
              </a:lnSpc>
              <a:buSzPct val="100000"/>
              <a:buFont typeface="+mj-lt"/>
              <a:buAutoNum type="arabicPeriod"/>
            </a:pPr>
            <a:r>
              <a:rPr lang="en-US" sz="2600" dirty="0"/>
              <a:t>Function with a Structure Input Parameter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8211AF-14BC-44B4-B483-48817120C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53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4C290C-436C-4614-A93D-A62745C9C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15/10/2025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81910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D8579-63B4-49C6-B062-FBF672459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solidFill>
                  <a:schemeClr val="accent2"/>
                </a:solidFill>
              </a:rPr>
              <a:t>1. Structure Definition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54D7D9-7B6A-4E08-937D-4418B0FE8D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4236" y="1319178"/>
            <a:ext cx="11085946" cy="5297932"/>
          </a:xfrm>
        </p:spPr>
        <p:txBody>
          <a:bodyPr>
            <a:normAutofit/>
          </a:bodyPr>
          <a:lstStyle/>
          <a:p>
            <a:r>
              <a:rPr lang="en-US" dirty="0"/>
              <a:t>The structure in C is a user-defined data type that can be used to group items of possibly different types into a single type.</a:t>
            </a:r>
          </a:p>
          <a:p>
            <a:r>
              <a:rPr lang="en-US" dirty="0"/>
              <a:t>Structures are also called records.</a:t>
            </a:r>
          </a:p>
          <a:p>
            <a:r>
              <a:rPr lang="en-US" dirty="0"/>
              <a:t>The </a:t>
            </a:r>
            <a:r>
              <a:rPr lang="en-US" b="1" dirty="0"/>
              <a:t>struct</a:t>
            </a:r>
            <a:r>
              <a:rPr lang="en-US" dirty="0"/>
              <a:t> keyword is used to define the structure in the C programming language.</a:t>
            </a:r>
          </a:p>
          <a:p>
            <a:r>
              <a:rPr lang="en-US" dirty="0"/>
              <a:t>Unlike arrays, a struct is composed of data of different types.</a:t>
            </a:r>
          </a:p>
          <a:p>
            <a:r>
              <a:rPr lang="en-US" dirty="0"/>
              <a:t>You use structures to group data that belong together.</a:t>
            </a:r>
          </a:p>
          <a:p>
            <a:r>
              <a:rPr lang="en-US" dirty="0"/>
              <a:t>Additionally, the values of a structure are stored in contiguous memory locations.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92E094-7B47-46D3-BE39-8E1881DB3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54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C7D699-B519-48CF-8875-2C621BB87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15/10/2025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842580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D8579-63B4-49C6-B062-FBF672459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Structure Definition (cont.)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54D7D9-7B6A-4E08-937D-4418B0FE8D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4236" y="1319178"/>
            <a:ext cx="11085946" cy="5297932"/>
          </a:xfrm>
        </p:spPr>
        <p:txBody>
          <a:bodyPr>
            <a:normAutofit/>
          </a:bodyPr>
          <a:lstStyle/>
          <a:p>
            <a:r>
              <a:rPr lang="en-US" dirty="0"/>
              <a:t>Examples: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sz="3200" dirty="0"/>
          </a:p>
          <a:p>
            <a:r>
              <a:rPr lang="en-US" dirty="0"/>
              <a:t>Data elements in a structure are called </a:t>
            </a:r>
            <a:r>
              <a:rPr lang="en-US" b="1" dirty="0"/>
              <a:t>fields</a:t>
            </a:r>
            <a:r>
              <a:rPr lang="en-US" dirty="0"/>
              <a:t> or </a:t>
            </a:r>
            <a:r>
              <a:rPr lang="en-US" b="1" dirty="0"/>
              <a:t>members</a:t>
            </a:r>
            <a:r>
              <a:rPr lang="en-US" dirty="0"/>
              <a:t>.</a:t>
            </a:r>
          </a:p>
          <a:p>
            <a:r>
              <a:rPr lang="en-US" dirty="0"/>
              <a:t>Complex data structures can be formed by defining arrays of structs.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92E094-7B47-46D3-BE39-8E1881DB3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55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C7D699-B519-48CF-8875-2C621BB87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15/10/2025</a:t>
            </a:fld>
            <a:endParaRPr lang="en-US" dirty="0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A891600E-F8C2-43AB-99A7-89EC7C90F91C}"/>
              </a:ext>
            </a:extLst>
          </p:cNvPr>
          <p:cNvGraphicFramePr>
            <a:graphicFrameLocks noGrp="1"/>
          </p:cNvGraphicFramePr>
          <p:nvPr/>
        </p:nvGraphicFramePr>
        <p:xfrm>
          <a:off x="1138344" y="1929034"/>
          <a:ext cx="10097730" cy="303625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48865">
                  <a:extLst>
                    <a:ext uri="{9D8B030D-6E8A-4147-A177-3AD203B41FA5}">
                      <a16:colId xmlns:a16="http://schemas.microsoft.com/office/drawing/2014/main" val="747370846"/>
                    </a:ext>
                  </a:extLst>
                </a:gridCol>
                <a:gridCol w="5048865">
                  <a:extLst>
                    <a:ext uri="{9D8B030D-6E8A-4147-A177-3AD203B41FA5}">
                      <a16:colId xmlns:a16="http://schemas.microsoft.com/office/drawing/2014/main" val="2629564882"/>
                    </a:ext>
                  </a:extLst>
                </a:gridCol>
              </a:tblGrid>
              <a:tr h="303625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en-US" sz="2400" b="1" dirty="0"/>
                        <a:t>Student information:</a:t>
                      </a:r>
                    </a:p>
                    <a:p>
                      <a:pPr lvl="1">
                        <a:lnSpc>
                          <a:spcPct val="110000"/>
                        </a:lnSpc>
                      </a:pPr>
                      <a:r>
                        <a:rPr lang="en-US" sz="2400" dirty="0"/>
                        <a:t>- student id,</a:t>
                      </a:r>
                    </a:p>
                    <a:p>
                      <a:pPr lvl="1">
                        <a:lnSpc>
                          <a:spcPct val="110000"/>
                        </a:lnSpc>
                      </a:pPr>
                      <a:r>
                        <a:rPr lang="en-US" sz="2400" dirty="0"/>
                        <a:t>- last name,</a:t>
                      </a:r>
                    </a:p>
                    <a:p>
                      <a:pPr lvl="1">
                        <a:lnSpc>
                          <a:spcPct val="110000"/>
                        </a:lnSpc>
                      </a:pPr>
                      <a:r>
                        <a:rPr lang="en-US" sz="2400" dirty="0"/>
                        <a:t>- first name</a:t>
                      </a:r>
                    </a:p>
                    <a:p>
                      <a:pPr lvl="1">
                        <a:lnSpc>
                          <a:spcPct val="110000"/>
                        </a:lnSpc>
                      </a:pPr>
                      <a:r>
                        <a:rPr lang="en-US" sz="2400" dirty="0"/>
                        <a:t>- major,</a:t>
                      </a:r>
                    </a:p>
                    <a:p>
                      <a:pPr lvl="1">
                        <a:lnSpc>
                          <a:spcPct val="110000"/>
                        </a:lnSpc>
                      </a:pPr>
                      <a:r>
                        <a:rPr lang="en-US" sz="2400" dirty="0"/>
                        <a:t>- gender,</a:t>
                      </a:r>
                    </a:p>
                    <a:p>
                      <a:pPr lvl="1">
                        <a:lnSpc>
                          <a:spcPct val="110000"/>
                        </a:lnSpc>
                      </a:pPr>
                      <a:r>
                        <a:rPr lang="en-US" sz="24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en-US" sz="24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Bank account information:</a:t>
                      </a:r>
                    </a:p>
                    <a:p>
                      <a:pPr lvl="1">
                        <a:lnSpc>
                          <a:spcPct val="110000"/>
                        </a:lnSpc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account number,</a:t>
                      </a:r>
                    </a:p>
                    <a:p>
                      <a:pPr lvl="1">
                        <a:lnSpc>
                          <a:spcPct val="110000"/>
                        </a:lnSpc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account type</a:t>
                      </a:r>
                    </a:p>
                    <a:p>
                      <a:pPr lvl="1">
                        <a:lnSpc>
                          <a:spcPct val="110000"/>
                        </a:lnSpc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account holder</a:t>
                      </a:r>
                    </a:p>
                    <a:p>
                      <a:pPr lvl="2">
                        <a:lnSpc>
                          <a:spcPct val="110000"/>
                        </a:lnSpc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 first name</a:t>
                      </a:r>
                    </a:p>
                    <a:p>
                      <a:pPr lvl="2">
                        <a:lnSpc>
                          <a:spcPct val="110000"/>
                        </a:lnSpc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 last name</a:t>
                      </a:r>
                    </a:p>
                    <a:p>
                      <a:pPr lvl="1">
                        <a:lnSpc>
                          <a:spcPct val="110000"/>
                        </a:lnSpc>
                      </a:pPr>
                      <a:r>
                        <a:rPr lang="en-US" sz="2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balance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7404435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FD60C38-69A0-499B-8633-493EA5BCDBB1}"/>
              </a:ext>
            </a:extLst>
          </p:cNvPr>
          <p:cNvCxnSpPr>
            <a:cxnSpLocks/>
          </p:cNvCxnSpPr>
          <p:nvPr/>
        </p:nvCxnSpPr>
        <p:spPr>
          <a:xfrm flipH="1" flipV="1">
            <a:off x="4021394" y="3588774"/>
            <a:ext cx="2733370" cy="1592828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ight Brace 9">
            <a:extLst>
              <a:ext uri="{FF2B5EF4-FFF2-40B4-BE49-F238E27FC236}">
                <a16:creationId xmlns:a16="http://schemas.microsoft.com/office/drawing/2014/main" id="{9E624D38-25CD-4173-8F76-440C549F8E5F}"/>
              </a:ext>
            </a:extLst>
          </p:cNvPr>
          <p:cNvSpPr/>
          <p:nvPr/>
        </p:nvSpPr>
        <p:spPr>
          <a:xfrm>
            <a:off x="3500284" y="2487561"/>
            <a:ext cx="403122" cy="2202426"/>
          </a:xfrm>
          <a:prstGeom prst="rightBrace">
            <a:avLst>
              <a:gd name="adj1" fmla="val 37601"/>
              <a:gd name="adj2" fmla="val 50000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90262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1B33F-3265-4F0B-BB76-3FDC1585F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solidFill>
                  <a:schemeClr val="accent2"/>
                </a:solidFill>
              </a:rPr>
              <a:t>2. Struct Syntax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96E07-8577-4ADF-AC79-72C84D8EA0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Syntax of the structure type: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2C238B-B95B-4F2A-AAF0-D43F2D64E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56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CDB5B2-D73A-4C6D-8507-86DC4587B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15/10/2025</a:t>
            </a:fld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445ACD-7715-4593-805B-94EF976DB45C}"/>
              </a:ext>
            </a:extLst>
          </p:cNvPr>
          <p:cNvSpPr txBox="1"/>
          <p:nvPr/>
        </p:nvSpPr>
        <p:spPr>
          <a:xfrm>
            <a:off x="5796116" y="3418869"/>
            <a:ext cx="5997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Or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A629E0-D989-4161-9D53-E6FA837451E7}"/>
              </a:ext>
            </a:extLst>
          </p:cNvPr>
          <p:cNvSpPr/>
          <p:nvPr/>
        </p:nvSpPr>
        <p:spPr>
          <a:xfrm>
            <a:off x="1141474" y="2192486"/>
            <a:ext cx="4000798" cy="3116825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tx1"/>
                </a:solidFill>
              </a:rPr>
              <a:t>typedef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b="1" dirty="0">
                <a:solidFill>
                  <a:schemeClr val="tx1"/>
                </a:solidFill>
              </a:rPr>
              <a:t>struct</a:t>
            </a:r>
            <a:r>
              <a:rPr lang="en-US" sz="2400" dirty="0">
                <a:solidFill>
                  <a:schemeClr val="tx1"/>
                </a:solidFill>
              </a:rPr>
              <a:t>{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</a:rPr>
              <a:t>	dataType1 field1;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</a:rPr>
              <a:t>	dataType2 field2;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</a:rPr>
              <a:t>	…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</a:rPr>
              <a:t>} </a:t>
            </a:r>
            <a:r>
              <a:rPr lang="en-US" sz="2400" b="1" dirty="0" err="1">
                <a:solidFill>
                  <a:schemeClr val="tx1"/>
                </a:solidFill>
              </a:rPr>
              <a:t>structName</a:t>
            </a:r>
            <a:r>
              <a:rPr lang="en-US" sz="2400" dirty="0">
                <a:solidFill>
                  <a:schemeClr val="tx1"/>
                </a:solidFill>
              </a:rPr>
              <a:t>;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DEB3AEC-63B6-42BE-8B30-639476160882}"/>
              </a:ext>
            </a:extLst>
          </p:cNvPr>
          <p:cNvSpPr/>
          <p:nvPr/>
        </p:nvSpPr>
        <p:spPr>
          <a:xfrm>
            <a:off x="6770832" y="2192486"/>
            <a:ext cx="4279694" cy="3116825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tx1"/>
                </a:solidFill>
              </a:rPr>
              <a:t>struct </a:t>
            </a:r>
            <a:r>
              <a:rPr lang="en-US" sz="2400" b="1" dirty="0" err="1">
                <a:solidFill>
                  <a:schemeClr val="tx1"/>
                </a:solidFill>
              </a:rPr>
              <a:t>structName</a:t>
            </a:r>
            <a:r>
              <a:rPr lang="en-US" sz="2400" dirty="0">
                <a:solidFill>
                  <a:schemeClr val="tx1"/>
                </a:solidFill>
              </a:rPr>
              <a:t>{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</a:rPr>
              <a:t>	dataType1 field1;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</a:rPr>
              <a:t>	dataType2 field2;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</a:rPr>
              <a:t>	…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89685506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8F00C-AC36-4534-830F-871DD0202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Syntax Structure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89F7E3-0B79-4781-8719-B3480159A3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4236" y="1162887"/>
            <a:ext cx="11085946" cy="5122712"/>
          </a:xfrm>
        </p:spPr>
        <p:txBody>
          <a:bodyPr/>
          <a:lstStyle/>
          <a:p>
            <a:r>
              <a:rPr lang="en-US" dirty="0"/>
              <a:t>Examples: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sz="3200" dirty="0"/>
          </a:p>
          <a:p>
            <a:r>
              <a:rPr lang="en-US" sz="2400" dirty="0"/>
              <a:t>How to declare variable of type structure?</a:t>
            </a:r>
          </a:p>
          <a:p>
            <a:endParaRPr lang="en-US" dirty="0"/>
          </a:p>
          <a:p>
            <a:r>
              <a:rPr lang="en-US" sz="2400" dirty="0"/>
              <a:t>Example: </a:t>
            </a:r>
            <a:r>
              <a:rPr lang="en-US" sz="2400" dirty="0" err="1"/>
              <a:t>eventDate</a:t>
            </a:r>
            <a:r>
              <a:rPr lang="en-US" sz="2400" dirty="0"/>
              <a:t> </a:t>
            </a:r>
            <a:r>
              <a:rPr lang="en-US" sz="2400" dirty="0" err="1"/>
              <a:t>ev</a:t>
            </a:r>
            <a:r>
              <a:rPr lang="en-US" sz="2400" dirty="0"/>
              <a:t>; person p; struct telephone </a:t>
            </a:r>
            <a:r>
              <a:rPr lang="en-US" sz="2400" dirty="0" err="1"/>
              <a:t>tel</a:t>
            </a:r>
            <a:r>
              <a:rPr lang="en-US" sz="2400" dirty="0"/>
              <a:t>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760CB5-B2D4-4840-BC5E-BABABAF0E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57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8AAF67-E013-404C-95CE-4F13D01A1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15/10/2025</a:t>
            </a:fld>
            <a:endParaRPr lang="en-US" dirty="0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0130FC9C-9AFA-4064-8EEB-95129717C712}"/>
              </a:ext>
            </a:extLst>
          </p:cNvPr>
          <p:cNvGraphicFramePr>
            <a:graphicFrameLocks noGrp="1"/>
          </p:cNvGraphicFramePr>
          <p:nvPr/>
        </p:nvGraphicFramePr>
        <p:xfrm>
          <a:off x="1117600" y="1732389"/>
          <a:ext cx="103116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37220">
                  <a:extLst>
                    <a:ext uri="{9D8B030D-6E8A-4147-A177-3AD203B41FA5}">
                      <a16:colId xmlns:a16="http://schemas.microsoft.com/office/drawing/2014/main" val="246913609"/>
                    </a:ext>
                  </a:extLst>
                </a:gridCol>
                <a:gridCol w="3437220">
                  <a:extLst>
                    <a:ext uri="{9D8B030D-6E8A-4147-A177-3AD203B41FA5}">
                      <a16:colId xmlns:a16="http://schemas.microsoft.com/office/drawing/2014/main" val="1197900580"/>
                    </a:ext>
                  </a:extLst>
                </a:gridCol>
                <a:gridCol w="3437220">
                  <a:extLst>
                    <a:ext uri="{9D8B030D-6E8A-4147-A177-3AD203B41FA5}">
                      <a16:colId xmlns:a16="http://schemas.microsoft.com/office/drawing/2014/main" val="39897340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Example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Example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Example 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4832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typedef</a:t>
                      </a:r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struct</a:t>
                      </a:r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 {</a:t>
                      </a:r>
                    </a:p>
                    <a:p>
                      <a:pPr lvl="1" algn="l">
                        <a:lnSpc>
                          <a:spcPct val="100000"/>
                        </a:lnSpc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int</a:t>
                      </a:r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 day;</a:t>
                      </a:r>
                    </a:p>
                    <a:p>
                      <a:pPr lvl="1" algn="l">
                        <a:lnSpc>
                          <a:spcPct val="100000"/>
                        </a:lnSpc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int</a:t>
                      </a:r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 month; </a:t>
                      </a:r>
                    </a:p>
                    <a:p>
                      <a:pPr lvl="1" algn="l">
                        <a:lnSpc>
                          <a:spcPct val="100000"/>
                        </a:lnSpc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int</a:t>
                      </a:r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 year;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} </a:t>
                      </a:r>
                      <a:r>
                        <a:rPr lang="en-US" sz="2400" b="0" dirty="0" err="1">
                          <a:solidFill>
                            <a:schemeClr val="tx1"/>
                          </a:solidFill>
                        </a:rPr>
                        <a:t>eventDate</a:t>
                      </a:r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2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typedef</a:t>
                      </a:r>
                      <a:r>
                        <a:rPr lang="en-US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struct</a:t>
                      </a:r>
                      <a:r>
                        <a:rPr lang="en-US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{</a:t>
                      </a:r>
                    </a:p>
                    <a:p>
                      <a:pPr lvl="1">
                        <a:lnSpc>
                          <a:spcPct val="100000"/>
                        </a:lnSpc>
                      </a:pPr>
                      <a:r>
                        <a:rPr lang="en-US" sz="2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char</a:t>
                      </a:r>
                      <a:r>
                        <a:rPr lang="en-US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name[20]; </a:t>
                      </a:r>
                    </a:p>
                    <a:p>
                      <a:pPr lvl="1">
                        <a:lnSpc>
                          <a:spcPct val="100000"/>
                        </a:lnSpc>
                      </a:pPr>
                      <a:r>
                        <a:rPr lang="en-US" sz="2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</a:t>
                      </a:r>
                      <a:r>
                        <a:rPr lang="en-US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age;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 person;</a:t>
                      </a: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2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struct</a:t>
                      </a:r>
                      <a:r>
                        <a:rPr lang="en-US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telephone</a:t>
                      </a:r>
                      <a:r>
                        <a:rPr lang="en-US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{ </a:t>
                      </a:r>
                    </a:p>
                    <a:p>
                      <a:pPr lvl="1">
                        <a:lnSpc>
                          <a:spcPct val="100000"/>
                        </a:lnSpc>
                      </a:pPr>
                      <a:r>
                        <a:rPr lang="en-US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char name[30]; </a:t>
                      </a:r>
                    </a:p>
                    <a:p>
                      <a:pPr lvl="1">
                        <a:lnSpc>
                          <a:spcPct val="100000"/>
                        </a:lnSpc>
                      </a:pPr>
                      <a:r>
                        <a:rPr lang="en-US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 number;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};</a:t>
                      </a: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5337666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DE5DEC97-6CC0-425E-B81E-EBD6CCA1C426}"/>
              </a:ext>
            </a:extLst>
          </p:cNvPr>
          <p:cNvSpPr/>
          <p:nvPr/>
        </p:nvSpPr>
        <p:spPr>
          <a:xfrm>
            <a:off x="1117601" y="4975124"/>
            <a:ext cx="10311660" cy="468797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 err="1">
                <a:solidFill>
                  <a:srgbClr val="C00000"/>
                </a:solidFill>
              </a:rPr>
              <a:t>structName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 err="1">
                <a:solidFill>
                  <a:srgbClr val="0000FF"/>
                </a:solidFill>
              </a:rPr>
              <a:t>variableName</a:t>
            </a:r>
            <a:r>
              <a:rPr lang="en-US" sz="2400" dirty="0">
                <a:solidFill>
                  <a:schemeClr val="tx1"/>
                </a:solidFill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54773003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BA4B6-22E9-40D8-B941-756870BC2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3. Manipulating Structure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A1423-64C5-4CAC-A4A3-999637C935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4236" y="1260186"/>
            <a:ext cx="11085946" cy="5161521"/>
          </a:xfrm>
        </p:spPr>
        <p:txBody>
          <a:bodyPr>
            <a:normAutofit fontScale="92500"/>
          </a:bodyPr>
          <a:lstStyle/>
          <a:p>
            <a:r>
              <a:rPr lang="en-US" b="1" dirty="0"/>
              <a:t>How to access a field in a structure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Use the direct component selection operator, which is a </a:t>
            </a:r>
            <a:r>
              <a:rPr lang="en-US" b="1" dirty="0"/>
              <a:t>period</a:t>
            </a:r>
            <a:r>
              <a:rPr lang="en-US" dirty="0"/>
              <a:t> ‘</a:t>
            </a:r>
            <a:r>
              <a:rPr lang="en-US" b="1" dirty="0"/>
              <a:t>.</a:t>
            </a:r>
            <a:r>
              <a:rPr lang="en-US" dirty="0"/>
              <a:t>’</a:t>
            </a:r>
          </a:p>
          <a:p>
            <a:pPr lvl="1"/>
            <a:r>
              <a:rPr lang="en-US" dirty="0"/>
              <a:t>The ‘</a:t>
            </a:r>
            <a:r>
              <a:rPr lang="en-US" b="1" dirty="0"/>
              <a:t>.</a:t>
            </a:r>
            <a:r>
              <a:rPr lang="en-US" dirty="0"/>
              <a:t>’ operator has the highest priority in the operator precedence.</a:t>
            </a:r>
          </a:p>
          <a:p>
            <a:pPr lvl="1"/>
            <a:r>
              <a:rPr lang="en-US" u="sng" dirty="0"/>
              <a:t>Example</a:t>
            </a:r>
            <a:r>
              <a:rPr lang="en-US" dirty="0"/>
              <a:t>: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b="1" dirty="0"/>
              <a:t>Structure assignment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The copy of an entire structure can be easily done by the assignment operator.</a:t>
            </a:r>
          </a:p>
          <a:p>
            <a:pPr lvl="1"/>
            <a:r>
              <a:rPr lang="en-US" dirty="0"/>
              <a:t>Each component in one structure is copied into the corresponding component in the other structure.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AD988D-063D-47C5-8F0F-1027A4142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58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593D8C-ABC5-473D-8328-2A3294699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15/10/2025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BC2E050-74AE-4A1F-8120-AA71727DB37D}"/>
              </a:ext>
            </a:extLst>
          </p:cNvPr>
          <p:cNvSpPr/>
          <p:nvPr/>
        </p:nvSpPr>
        <p:spPr>
          <a:xfrm>
            <a:off x="1878623" y="3230117"/>
            <a:ext cx="2029038" cy="12216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8738" lvl="1">
              <a:buNone/>
            </a:pPr>
            <a:r>
              <a:rPr lang="en-US" sz="2200" dirty="0">
                <a:solidFill>
                  <a:schemeClr val="tx1"/>
                </a:solidFill>
              </a:rPr>
              <a:t>person p1;</a:t>
            </a:r>
          </a:p>
          <a:p>
            <a:pPr marL="58738" lvl="1">
              <a:buNone/>
            </a:pPr>
            <a:r>
              <a:rPr lang="en-US" sz="2200" dirty="0">
                <a:solidFill>
                  <a:schemeClr val="tx1"/>
                </a:solidFill>
              </a:rPr>
              <a:t>p1.name;</a:t>
            </a:r>
          </a:p>
          <a:p>
            <a:pPr marL="58738" lvl="1">
              <a:buNone/>
            </a:pPr>
            <a:r>
              <a:rPr lang="en-US" sz="2200" dirty="0">
                <a:solidFill>
                  <a:schemeClr val="tx1"/>
                </a:solidFill>
              </a:rPr>
              <a:t>p1.age;</a:t>
            </a:r>
          </a:p>
        </p:txBody>
      </p:sp>
    </p:spTree>
    <p:extLst>
      <p:ext uri="{BB962C8B-B14F-4D97-AF65-F5344CB8AC3E}">
        <p14:creationId xmlns:p14="http://schemas.microsoft.com/office/powerpoint/2010/main" val="86550341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D8CA8-F95C-4E8D-A322-1A8A7D757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1: Structure Type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A7FF81-57BE-4BDD-B2B0-3100AF3A0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59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9722DF-A792-471C-A633-3E5AAF454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15/10/2025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1949311-8B34-4566-83D9-F272558664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578" y="1321213"/>
            <a:ext cx="7901447" cy="505008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EFEB5E0-7B1E-4C47-9C71-88EBC29334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181225"/>
            <a:ext cx="5657850" cy="1247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911451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D8CA8-F95C-4E8D-A322-1A8A7D757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2: Structure Type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A7FF81-57BE-4BDD-B2B0-3100AF3A0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60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9722DF-A792-471C-A633-3E5AAF454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15/10/2025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AF80E0-C09F-4B94-8971-F00F5B6052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555" y="1341994"/>
            <a:ext cx="8372475" cy="49911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79B3263-0F73-4CBF-84A2-E5CB867AE4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9345" y="2237344"/>
            <a:ext cx="5753100" cy="106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02906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EE53B-3D10-474F-AD59-078DFC460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4. Arrays of Structures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5F62C7-62EB-4AC0-BD05-01DEECB266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 can also declare an array of structures.</a:t>
            </a:r>
          </a:p>
          <a:p>
            <a:r>
              <a:rPr lang="en-US" dirty="0"/>
              <a:t>Recall the syntax of an array: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dataType</a:t>
            </a:r>
            <a:r>
              <a:rPr lang="en-US" dirty="0"/>
              <a:t> </a:t>
            </a:r>
            <a:r>
              <a:rPr lang="en-US" dirty="0" err="1">
                <a:solidFill>
                  <a:srgbClr val="0000FF"/>
                </a:solidFill>
              </a:rPr>
              <a:t>array_name</a:t>
            </a:r>
            <a:r>
              <a:rPr lang="en-US" dirty="0"/>
              <a:t>[</a:t>
            </a:r>
            <a:r>
              <a:rPr lang="en-US" dirty="0">
                <a:solidFill>
                  <a:srgbClr val="0000FF"/>
                </a:solidFill>
              </a:rPr>
              <a:t>size</a:t>
            </a:r>
            <a:r>
              <a:rPr lang="en-US" dirty="0"/>
              <a:t>];</a:t>
            </a:r>
          </a:p>
          <a:p>
            <a:pPr lvl="1"/>
            <a:r>
              <a:rPr lang="en-US" b="1" dirty="0" err="1">
                <a:solidFill>
                  <a:schemeClr val="accent2">
                    <a:lumMod val="75000"/>
                  </a:schemeClr>
                </a:solidFill>
              </a:rPr>
              <a:t>dataType</a:t>
            </a:r>
            <a:r>
              <a:rPr lang="en-US" dirty="0"/>
              <a:t> can any C type including struct type</a:t>
            </a:r>
          </a:p>
          <a:p>
            <a:r>
              <a:rPr lang="en-US" dirty="0"/>
              <a:t>The array of structures can be simply manipulated as arrays of simple data types.</a:t>
            </a:r>
          </a:p>
          <a:p>
            <a:endParaRPr lang="en-US" sz="1000" dirty="0"/>
          </a:p>
          <a:p>
            <a:r>
              <a:rPr lang="en-US" b="1" dirty="0"/>
              <a:t>Example</a:t>
            </a:r>
            <a:r>
              <a:rPr lang="en-US" dirty="0"/>
              <a:t>: </a:t>
            </a:r>
          </a:p>
          <a:p>
            <a:pPr marL="403225" indent="0">
              <a:buNone/>
            </a:pPr>
            <a:r>
              <a:rPr lang="en-US" dirty="0"/>
              <a:t>Write a program to organize information, includes: </a:t>
            </a:r>
            <a:r>
              <a:rPr lang="en-US" b="1" dirty="0"/>
              <a:t>name</a:t>
            </a:r>
            <a:r>
              <a:rPr lang="en-US" dirty="0"/>
              <a:t> and </a:t>
            </a:r>
            <a:r>
              <a:rPr lang="en-US" b="1" dirty="0"/>
              <a:t>age</a:t>
            </a:r>
            <a:r>
              <a:rPr lang="en-US" dirty="0"/>
              <a:t> of three family members. Print out the information for all members on each line.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1D62DB-D8EE-41FB-AA92-E522D76C3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61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B65B7D-378D-44C4-A8EF-AB9AA655B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15/10/2025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387676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0D32B-429F-4BDC-872D-CAC8FC6D2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1: Array of Structures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0BD667-2532-49F1-B19F-83285ADD7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62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BD6D45-D728-482D-B07B-7181E25AB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15/10/2025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AAA4C78-BEEE-4875-9BBC-5799C33E9F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252" y="1296119"/>
            <a:ext cx="8766505" cy="5000290"/>
          </a:xfrm>
          <a:prstGeom prst="rect">
            <a:avLst/>
          </a:prstGeom>
        </p:spPr>
      </p:pic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77B41A6F-11A0-47F6-A236-E9A69E01A22F}"/>
              </a:ext>
            </a:extLst>
          </p:cNvPr>
          <p:cNvGraphicFramePr>
            <a:graphicFrameLocks noGrp="1"/>
          </p:cNvGraphicFramePr>
          <p:nvPr/>
        </p:nvGraphicFramePr>
        <p:xfrm>
          <a:off x="7961150" y="1296118"/>
          <a:ext cx="3769032" cy="1588456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256344">
                  <a:extLst>
                    <a:ext uri="{9D8B030D-6E8A-4147-A177-3AD203B41FA5}">
                      <a16:colId xmlns:a16="http://schemas.microsoft.com/office/drawing/2014/main" val="4024121643"/>
                    </a:ext>
                  </a:extLst>
                </a:gridCol>
                <a:gridCol w="1256344">
                  <a:extLst>
                    <a:ext uri="{9D8B030D-6E8A-4147-A177-3AD203B41FA5}">
                      <a16:colId xmlns:a16="http://schemas.microsoft.com/office/drawing/2014/main" val="3793431031"/>
                    </a:ext>
                  </a:extLst>
                </a:gridCol>
                <a:gridCol w="1256344">
                  <a:extLst>
                    <a:ext uri="{9D8B030D-6E8A-4147-A177-3AD203B41FA5}">
                      <a16:colId xmlns:a16="http://schemas.microsoft.com/office/drawing/2014/main" val="3832424549"/>
                    </a:ext>
                  </a:extLst>
                </a:gridCol>
              </a:tblGrid>
              <a:tr h="397114">
                <a:tc>
                  <a:txBody>
                    <a:bodyPr/>
                    <a:lstStyle/>
                    <a:p>
                      <a:r>
                        <a:rPr lang="en-US" dirty="0"/>
                        <a:t>family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7287353"/>
                  </a:ext>
                </a:extLst>
              </a:tr>
              <a:tr h="397114">
                <a:tc>
                  <a:txBody>
                    <a:bodyPr/>
                    <a:lstStyle/>
                    <a:p>
                      <a:r>
                        <a:rPr lang="en-US" dirty="0"/>
                        <a:t>family[0]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John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0414172"/>
                  </a:ext>
                </a:extLst>
              </a:tr>
              <a:tr h="397114">
                <a:tc>
                  <a:txBody>
                    <a:bodyPr/>
                    <a:lstStyle/>
                    <a:p>
                      <a:r>
                        <a:rPr lang="en-US" dirty="0"/>
                        <a:t>family[1]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Sara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28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5570545"/>
                  </a:ext>
                </a:extLst>
              </a:tr>
              <a:tr h="397114">
                <a:tc>
                  <a:txBody>
                    <a:bodyPr/>
                    <a:lstStyle/>
                    <a:p>
                      <a:r>
                        <a:rPr lang="en-US" dirty="0"/>
                        <a:t>family[2]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David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5746389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39FD73C5-CA88-4B0D-B24E-77E322C2760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1555"/>
          <a:stretch/>
        </p:blipFill>
        <p:spPr>
          <a:xfrm>
            <a:off x="4018857" y="1296118"/>
            <a:ext cx="3433972" cy="1201275"/>
          </a:xfrm>
          <a:prstGeom prst="rect">
            <a:avLst/>
          </a:prstGeom>
          <a:ln>
            <a:solidFill>
              <a:srgbClr val="002060"/>
            </a:solidFill>
          </a:ln>
        </p:spPr>
      </p:pic>
      <p:sp>
        <p:nvSpPr>
          <p:cNvPr id="11" name="Textbox 12">
            <a:extLst>
              <a:ext uri="{FF2B5EF4-FFF2-40B4-BE49-F238E27FC236}">
                <a16:creationId xmlns:a16="http://schemas.microsoft.com/office/drawing/2014/main" id="{50CFBD1F-A2E6-427B-B8A1-724E7314B44C}"/>
              </a:ext>
            </a:extLst>
          </p:cNvPr>
          <p:cNvSpPr txBox="1">
            <a:spLocks/>
          </p:cNvSpPr>
          <p:nvPr/>
        </p:nvSpPr>
        <p:spPr>
          <a:xfrm>
            <a:off x="8271303" y="3635340"/>
            <a:ext cx="1786357" cy="365126"/>
          </a:xfrm>
          <a:prstGeom prst="rect">
            <a:avLst/>
          </a:prstGeom>
          <a:ln w="6096">
            <a:solidFill>
              <a:srgbClr val="008000"/>
            </a:solidFill>
            <a:prstDash val="solid"/>
          </a:ln>
        </p:spPr>
        <p:txBody>
          <a:bodyPr wrap="square" lIns="0" tIns="0" rIns="0" bIns="0" rtlCol="0">
            <a:noAutofit/>
          </a:bodyPr>
          <a:lstStyle/>
          <a:p>
            <a:pPr marL="92075">
              <a:spcBef>
                <a:spcPts val="330"/>
              </a:spcBef>
              <a:spcAft>
                <a:spcPts val="0"/>
              </a:spcAft>
            </a:pP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family[</a:t>
            </a:r>
            <a:r>
              <a:rPr lang="en-US" sz="2000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].name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611ECAC-84E8-486C-9971-81AEFBEBF6F1}"/>
              </a:ext>
            </a:extLst>
          </p:cNvPr>
          <p:cNvCxnSpPr>
            <a:stCxn id="11" idx="0"/>
          </p:cNvCxnSpPr>
          <p:nvPr/>
        </p:nvCxnSpPr>
        <p:spPr>
          <a:xfrm flipV="1">
            <a:off x="9164482" y="2792361"/>
            <a:ext cx="349275" cy="842979"/>
          </a:xfrm>
          <a:prstGeom prst="straightConnector1">
            <a:avLst/>
          </a:prstGeom>
          <a:ln w="19050">
            <a:solidFill>
              <a:srgbClr val="008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2">
            <a:extLst>
              <a:ext uri="{FF2B5EF4-FFF2-40B4-BE49-F238E27FC236}">
                <a16:creationId xmlns:a16="http://schemas.microsoft.com/office/drawing/2014/main" id="{461BF31B-14D7-48D0-991A-C54476533492}"/>
              </a:ext>
            </a:extLst>
          </p:cNvPr>
          <p:cNvSpPr txBox="1">
            <a:spLocks/>
          </p:cNvSpPr>
          <p:nvPr/>
        </p:nvSpPr>
        <p:spPr>
          <a:xfrm>
            <a:off x="10057660" y="3139232"/>
            <a:ext cx="1544405" cy="365126"/>
          </a:xfrm>
          <a:prstGeom prst="rect">
            <a:avLst/>
          </a:prstGeom>
          <a:ln w="6096">
            <a:solidFill>
              <a:srgbClr val="0000FF"/>
            </a:solidFill>
            <a:prstDash val="solid"/>
          </a:ln>
        </p:spPr>
        <p:txBody>
          <a:bodyPr wrap="square" lIns="0" tIns="0" rIns="0" bIns="0" rtlCol="0">
            <a:noAutofit/>
          </a:bodyPr>
          <a:lstStyle/>
          <a:p>
            <a:pPr marL="92075">
              <a:spcBef>
                <a:spcPts val="330"/>
              </a:spcBef>
              <a:spcAft>
                <a:spcPts val="0"/>
              </a:spcAft>
            </a:pP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family[1].age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BEAEA07-ACDD-4F21-9AD8-933859CE54CA}"/>
              </a:ext>
            </a:extLst>
          </p:cNvPr>
          <p:cNvCxnSpPr>
            <a:cxnSpLocks/>
            <a:stCxn id="14" idx="0"/>
          </p:cNvCxnSpPr>
          <p:nvPr/>
        </p:nvCxnSpPr>
        <p:spPr>
          <a:xfrm flipV="1">
            <a:off x="10829863" y="2296254"/>
            <a:ext cx="470251" cy="842978"/>
          </a:xfrm>
          <a:prstGeom prst="straightConnector1">
            <a:avLst/>
          </a:prstGeom>
          <a:ln w="190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246262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8B790-BF98-42F1-97CC-296FB511A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5. </a:t>
            </a:r>
            <a:r>
              <a:rPr lang="en-US" sz="3200" dirty="0">
                <a:solidFill>
                  <a:schemeClr val="accent2"/>
                </a:solidFill>
              </a:rPr>
              <a:t>Function with a Structure Input Parameter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3BC518-C1D0-4D35-84E8-80EBA7C83D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4236" y="1319178"/>
            <a:ext cx="11085946" cy="5012796"/>
          </a:xfrm>
        </p:spPr>
        <p:txBody>
          <a:bodyPr/>
          <a:lstStyle/>
          <a:p>
            <a:r>
              <a:rPr lang="en-US" dirty="0"/>
              <a:t>When a structure variable is passed as an input argument to a function, all its component values are copied into the local structure variable.</a:t>
            </a:r>
          </a:p>
          <a:p>
            <a:r>
              <a:rPr lang="en-US" b="1" dirty="0"/>
              <a:t>Syntax</a:t>
            </a:r>
            <a:r>
              <a:rPr lang="en-US" dirty="0"/>
              <a:t>:</a:t>
            </a:r>
          </a:p>
          <a:p>
            <a:endParaRPr lang="en-US" sz="3600" dirty="0"/>
          </a:p>
          <a:p>
            <a:r>
              <a:rPr lang="en-US" b="1" dirty="0"/>
              <a:t>Example</a:t>
            </a:r>
            <a:r>
              <a:rPr lang="en-US" dirty="0"/>
              <a:t>:</a:t>
            </a:r>
          </a:p>
          <a:p>
            <a:pPr marL="403225" indent="0">
              <a:buNone/>
            </a:pPr>
            <a:r>
              <a:rPr lang="en-US" dirty="0"/>
              <a:t>Write a C program to print a student's information including: id, name, age. Use a structure to define the student's data structure and use a function with a parameter of type structure to print the information.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F4621D-6C91-444B-B5BC-613C87C81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63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5F0F15-41D5-4383-9350-0AA94B39F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15/10/2025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FEC9B61-D51B-4B2F-A93B-66D94E406673}"/>
              </a:ext>
            </a:extLst>
          </p:cNvPr>
          <p:cNvSpPr/>
          <p:nvPr/>
        </p:nvSpPr>
        <p:spPr>
          <a:xfrm>
            <a:off x="2231922" y="3038169"/>
            <a:ext cx="8101781" cy="468797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 err="1">
                <a:solidFill>
                  <a:srgbClr val="C00000"/>
                </a:solidFill>
              </a:rPr>
              <a:t>dataType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rgbClr val="0000FF"/>
                </a:solidFill>
              </a:rPr>
              <a:t>functionName</a:t>
            </a:r>
            <a:r>
              <a:rPr lang="en-US" sz="2400" dirty="0">
                <a:solidFill>
                  <a:schemeClr val="tx1"/>
                </a:solidFill>
              </a:rPr>
              <a:t>(</a:t>
            </a:r>
            <a:r>
              <a:rPr lang="en-US" sz="2400" dirty="0" err="1">
                <a:solidFill>
                  <a:srgbClr val="0000FF"/>
                </a:solidFill>
              </a:rPr>
              <a:t>structName</a:t>
            </a:r>
            <a:r>
              <a:rPr lang="en-US" sz="2400" dirty="0">
                <a:solidFill>
                  <a:schemeClr val="tx1"/>
                </a:solidFill>
              </a:rPr>
              <a:t> parameter){ … }</a:t>
            </a:r>
          </a:p>
        </p:txBody>
      </p:sp>
    </p:spTree>
    <p:extLst>
      <p:ext uri="{BB962C8B-B14F-4D97-AF65-F5344CB8AC3E}">
        <p14:creationId xmlns:p14="http://schemas.microsoft.com/office/powerpoint/2010/main" val="378623027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6A980-F22C-42AD-A574-1D7F0751E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733" y="627269"/>
            <a:ext cx="11085946" cy="468797"/>
          </a:xfrm>
        </p:spPr>
        <p:txBody>
          <a:bodyPr/>
          <a:lstStyle/>
          <a:p>
            <a:r>
              <a:rPr lang="en-US" dirty="0"/>
              <a:t>Function with a Structure Input Parameter: Example 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41B87B-67B2-4F9D-B62D-2C1D6E9CD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64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F448CE-2859-46B2-8E66-5DDFC93F4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15/10/2025</a:t>
            </a:fld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814593F-6D8C-4248-B8AB-160BD30179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740" y="1152525"/>
            <a:ext cx="7034241" cy="520829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D496FBC-D1B3-4773-B09F-745FF43CCA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0227" y="1692919"/>
            <a:ext cx="4277774" cy="935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045931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002E6-9011-456E-BCD4-11488A376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Study: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E78552-A57F-4407-B07C-0B44037083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4236" y="1387483"/>
            <a:ext cx="11085946" cy="512271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Write a C program that allows users to manage account information of up to 100 customers. Customer account information includes: </a:t>
            </a:r>
            <a:r>
              <a:rPr lang="en-US" b="1" dirty="0" err="1"/>
              <a:t>accountNumber</a:t>
            </a:r>
            <a:r>
              <a:rPr lang="en-US" dirty="0"/>
              <a:t> (int); </a:t>
            </a:r>
            <a:r>
              <a:rPr lang="en-US" b="1" dirty="0" err="1"/>
              <a:t>accountType</a:t>
            </a:r>
            <a:r>
              <a:rPr lang="en-US" dirty="0"/>
              <a:t> (char[20]); </a:t>
            </a:r>
            <a:r>
              <a:rPr lang="en-US" b="1" dirty="0" err="1"/>
              <a:t>accountHolderName</a:t>
            </a:r>
            <a:r>
              <a:rPr lang="en-US" dirty="0"/>
              <a:t> (char[40]); </a:t>
            </a:r>
            <a:r>
              <a:rPr lang="en-US" b="1" dirty="0"/>
              <a:t>balance</a:t>
            </a:r>
            <a:r>
              <a:rPr lang="en-US" dirty="0"/>
              <a:t> (double).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Requirements</a:t>
            </a:r>
            <a:r>
              <a:rPr lang="en-US" dirty="0"/>
              <a:t>: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Enter customer account information from the keyboard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Print out a list of customer account information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Find and print out information on customers with a balance greater than $1000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0A47DE-6D32-4B58-A847-2A94D3049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65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5255EC-22E9-4485-B064-AF737A203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15/10/2025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93648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48C96-8A67-4E92-89DC-9BEB97FF2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Study: Code design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AD2D13-D4D1-4A24-BD78-D20839344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66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656434-6EF9-41C9-84B5-1FA2E6410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15/10/2025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ACD8F1-FBB4-4B76-8037-496CB9DD1A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147" y="1223885"/>
            <a:ext cx="3476625" cy="2981325"/>
          </a:xfrm>
          <a:prstGeom prst="rect">
            <a:avLst/>
          </a:prstGeom>
          <a:ln>
            <a:solidFill>
              <a:srgbClr val="002060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662B634-27FC-485D-ADF9-02AC6AF000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5307" y="1799303"/>
            <a:ext cx="7207861" cy="4414684"/>
          </a:xfrm>
          <a:prstGeom prst="rect">
            <a:avLst/>
          </a:prstGeom>
          <a:ln>
            <a:solidFill>
              <a:srgbClr val="002060"/>
            </a:solidFill>
          </a:ln>
        </p:spPr>
      </p:pic>
    </p:spTree>
    <p:extLst>
      <p:ext uri="{BB962C8B-B14F-4D97-AF65-F5344CB8AC3E}">
        <p14:creationId xmlns:p14="http://schemas.microsoft.com/office/powerpoint/2010/main" val="355679931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48C96-8A67-4E92-89DC-9BEB97FF2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Study: Code design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AD2D13-D4D1-4A24-BD78-D20839344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67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656434-6EF9-41C9-84B5-1FA2E6410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15/10/2025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9751E3-4D12-421C-9652-A00D203410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752" y="1598663"/>
            <a:ext cx="11376313" cy="3809079"/>
          </a:xfrm>
          <a:prstGeom prst="rect">
            <a:avLst/>
          </a:prstGeom>
          <a:ln>
            <a:solidFill>
              <a:srgbClr val="002060"/>
            </a:solidFill>
          </a:ln>
        </p:spPr>
      </p:pic>
    </p:spTree>
    <p:extLst>
      <p:ext uri="{BB962C8B-B14F-4D97-AF65-F5344CB8AC3E}">
        <p14:creationId xmlns:p14="http://schemas.microsoft.com/office/powerpoint/2010/main" val="99181178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48C96-8A67-4E92-89DC-9BEB97FF2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Study: Code design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AD2D13-D4D1-4A24-BD78-D20839344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68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656434-6EF9-41C9-84B5-1FA2E6410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15/10/2025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959F536-DEDF-4551-B6DC-3D705D910B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0358" y="1554572"/>
            <a:ext cx="7691284" cy="4155953"/>
          </a:xfrm>
          <a:prstGeom prst="rect">
            <a:avLst/>
          </a:prstGeom>
          <a:ln>
            <a:solidFill>
              <a:srgbClr val="002060"/>
            </a:solidFill>
          </a:ln>
        </p:spPr>
      </p:pic>
    </p:spTree>
    <p:extLst>
      <p:ext uri="{BB962C8B-B14F-4D97-AF65-F5344CB8AC3E}">
        <p14:creationId xmlns:p14="http://schemas.microsoft.com/office/powerpoint/2010/main" val="406152054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48C96-8A67-4E92-89DC-9BEB97FF2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Study: Compile &amp; Run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AD2D13-D4D1-4A24-BD78-D20839344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69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656434-6EF9-41C9-84B5-1FA2E6410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15/10/2025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50BF9C0-18C6-4DA0-9540-29DDB1BD69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5484" y="1273607"/>
            <a:ext cx="8741031" cy="5127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03009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A660B-5AE1-4219-9C11-61C2B57D4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500" dirty="0">
                <a:solidFill>
                  <a:schemeClr val="accent2"/>
                </a:solidFill>
              </a:rPr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4F63A6-00AC-4D4C-9489-EA7C2503D5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600" dirty="0"/>
              <a:t>Understanding what a Structure type is?</a:t>
            </a:r>
          </a:p>
          <a:p>
            <a:pPr>
              <a:lnSpc>
                <a:spcPct val="150000"/>
              </a:lnSpc>
            </a:pPr>
            <a:r>
              <a:rPr lang="en-US" sz="2600" dirty="0"/>
              <a:t>When to use a Structure type in a program</a:t>
            </a:r>
          </a:p>
          <a:p>
            <a:pPr>
              <a:lnSpc>
                <a:spcPct val="150000"/>
              </a:lnSpc>
            </a:pPr>
            <a:r>
              <a:rPr lang="en-US" sz="2600" dirty="0"/>
              <a:t>How to define a Structure type and use a Structure in a program</a:t>
            </a:r>
          </a:p>
          <a:p>
            <a:pPr>
              <a:lnSpc>
                <a:spcPct val="150000"/>
              </a:lnSpc>
            </a:pPr>
            <a:r>
              <a:rPr lang="en-US" sz="2600" dirty="0"/>
              <a:t>Know how to work with the components of a Structure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06970E-26FF-4F80-9A9E-CFF522BC2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70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2B1084-D0EC-41B2-B53D-03D6F638B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15/10/2025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82301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23038</TotalTime>
  <Words>3419</Words>
  <Application>Microsoft Office PowerPoint</Application>
  <PresentationFormat>Widescreen</PresentationFormat>
  <Paragraphs>684</Paragraphs>
  <Slides>70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5" baseType="lpstr">
      <vt:lpstr>Arial</vt:lpstr>
      <vt:lpstr>Calibri</vt:lpstr>
      <vt:lpstr>Times New Roman</vt:lpstr>
      <vt:lpstr>Wingdings</vt:lpstr>
      <vt:lpstr>Office Theme</vt:lpstr>
      <vt:lpstr>Contiguous Storage</vt:lpstr>
      <vt:lpstr>Objectives</vt:lpstr>
      <vt:lpstr>Contents</vt:lpstr>
      <vt:lpstr>1- Contiguous Storage</vt:lpstr>
      <vt:lpstr>2 - Array</vt:lpstr>
      <vt:lpstr>3 - One-dimensional Arrays (1-D)</vt:lpstr>
      <vt:lpstr>1-D Array: Declaration</vt:lpstr>
      <vt:lpstr>1-D Array: Declaration (cont.)</vt:lpstr>
      <vt:lpstr>1-D Array: Example Memory Allocation</vt:lpstr>
      <vt:lpstr>1-D Arrays: Initialization &amp; Accessing Elements</vt:lpstr>
      <vt:lpstr>1-D Arrays: Initialization &amp; Accessing Elements (cont.)</vt:lpstr>
      <vt:lpstr>1-D Arrays: Traversing</vt:lpstr>
      <vt:lpstr>1-D Array is a Function Parameter</vt:lpstr>
      <vt:lpstr>1-D Array is a Function Parameter: Demo</vt:lpstr>
      <vt:lpstr>Array Funtion Parameter: Demo 1 (cont.)</vt:lpstr>
      <vt:lpstr>Array Funtion Parameter: Demo 1 (cont.)</vt:lpstr>
      <vt:lpstr>Array Function Parameter: Demo 1</vt:lpstr>
      <vt:lpstr>Array Funtion Parameter: Solution</vt:lpstr>
      <vt:lpstr>Solution (cont.)</vt:lpstr>
      <vt:lpstr>Solution (cont.)</vt:lpstr>
      <vt:lpstr>Output Solution</vt:lpstr>
      <vt:lpstr>Exercise 1:</vt:lpstr>
      <vt:lpstr>Exercise 1 (cont.)</vt:lpstr>
      <vt:lpstr>Exercise 1 (cont.)</vt:lpstr>
      <vt:lpstr>1-D Arrays: Searching</vt:lpstr>
      <vt:lpstr>Searching: Linear Search</vt:lpstr>
      <vt:lpstr>Exercise 2: Using Linear Search algorithm</vt:lpstr>
      <vt:lpstr>Searching: Binary Search</vt:lpstr>
      <vt:lpstr>Exercise 3: Using Binary Search algorithm</vt:lpstr>
      <vt:lpstr>1-D Arrays: Sorting</vt:lpstr>
      <vt:lpstr>Sorting: Selection Sort</vt:lpstr>
      <vt:lpstr>Selection Sort: Students complete the demo</vt:lpstr>
      <vt:lpstr>Sorting: Bubble Sort</vt:lpstr>
      <vt:lpstr>Bubble Sort: Demo</vt:lpstr>
      <vt:lpstr>1-D Arrays: A Case Study</vt:lpstr>
      <vt:lpstr>Case Study: Problem Analyze</vt:lpstr>
      <vt:lpstr>Case Study: Problem Analyze (cont.)</vt:lpstr>
      <vt:lpstr>Case Study: Code Design</vt:lpstr>
      <vt:lpstr>Case Study: Code Design</vt:lpstr>
      <vt:lpstr>Case Study: Code Design</vt:lpstr>
      <vt:lpstr>Case Study: Code Design</vt:lpstr>
      <vt:lpstr>Case Study: Code Design</vt:lpstr>
      <vt:lpstr>Case Study: Code Design</vt:lpstr>
      <vt:lpstr>Compile &amp; Run</vt:lpstr>
      <vt:lpstr>Exercise 4:</vt:lpstr>
      <vt:lpstr>4 - Two-Dimensional Arrays</vt:lpstr>
      <vt:lpstr>Two-Dimensional Arrays: Example</vt:lpstr>
      <vt:lpstr>Two-Dimensional Arrays: Example (cont.)</vt:lpstr>
      <vt:lpstr>Summary</vt:lpstr>
      <vt:lpstr>Summary</vt:lpstr>
      <vt:lpstr>Structures</vt:lpstr>
      <vt:lpstr>Objectives</vt:lpstr>
      <vt:lpstr>Contents</vt:lpstr>
      <vt:lpstr>1. Structure Definition</vt:lpstr>
      <vt:lpstr>Structure Definition (cont.)</vt:lpstr>
      <vt:lpstr>2. Struct Syntax</vt:lpstr>
      <vt:lpstr>Syntax Structure (cont.)</vt:lpstr>
      <vt:lpstr>3. Manipulating Structure Types</vt:lpstr>
      <vt:lpstr>Example 1: Structure Type</vt:lpstr>
      <vt:lpstr>Example 2: Structure Type</vt:lpstr>
      <vt:lpstr>4. Arrays of Structures</vt:lpstr>
      <vt:lpstr>Example 1: Array of Structures</vt:lpstr>
      <vt:lpstr>5. Function with a Structure Input Parameter</vt:lpstr>
      <vt:lpstr>Function with a Structure Input Parameter: Example 2</vt:lpstr>
      <vt:lpstr>Case Study:</vt:lpstr>
      <vt:lpstr>Case Study: Code design</vt:lpstr>
      <vt:lpstr>Case Study: Code design</vt:lpstr>
      <vt:lpstr>Case Study: Code design</vt:lpstr>
      <vt:lpstr>Case Study: Compile &amp; Run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Huy Vu Van</cp:lastModifiedBy>
  <cp:revision>1365</cp:revision>
  <dcterms:created xsi:type="dcterms:W3CDTF">2021-01-25T08:25:31Z</dcterms:created>
  <dcterms:modified xsi:type="dcterms:W3CDTF">2025-10-15T09:11:43Z</dcterms:modified>
</cp:coreProperties>
</file>