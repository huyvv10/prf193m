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81" r:id="rId3"/>
    <p:sldId id="278" r:id="rId4"/>
    <p:sldId id="279" r:id="rId5"/>
    <p:sldId id="282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00"/>
    <a:srgbClr val="F4A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154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9DFF5-E44F-48DD-8FAD-EF15CFF7F474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31253-AA71-4F4F-9BF6-D6DC574A3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054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7A13E-60FF-453F-B712-D9BBD0C85FA1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6C0E5-5FD0-48D4-A8DC-243893429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982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319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79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00FF0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343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617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339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722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246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667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14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1731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274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22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88598"/>
            <a:ext cx="9144000" cy="1521364"/>
          </a:xfrm>
          <a:solidFill>
            <a:schemeClr val="accent2"/>
          </a:solidFill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22741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7B940385-AA87-4844-88A2-440B6F604A0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/>
          <a:srcRect l="32008" t="-4408"/>
          <a:stretch/>
        </p:blipFill>
        <p:spPr bwMode="auto">
          <a:xfrm>
            <a:off x="0" y="5774"/>
            <a:ext cx="1413541" cy="600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0955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093" y="1900322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060" y="648070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149FD-98BB-4821-915B-09C9BFE4B7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" y="600803"/>
            <a:ext cx="207390" cy="973473"/>
          </a:xfrm>
          <a:prstGeom prst="rect">
            <a:avLst/>
          </a:prstGeom>
          <a:solidFill>
            <a:srgbClr val="F4AF80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DB78142D-6D48-48A2-83B1-5FBEEEEC097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/>
          <a:srcRect l="32897" b="-14369"/>
          <a:stretch/>
        </p:blipFill>
        <p:spPr bwMode="auto">
          <a:xfrm>
            <a:off x="0" y="26362"/>
            <a:ext cx="1395068" cy="658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069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256740-3DC7-40BE-968F-29F94186F3AD}" type="datetime1">
              <a:rPr lang="vi-VN" smtClean="0"/>
              <a:t>05/01/2025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CF4340-2A85-48EF-A8EE-4E965141146A}"/>
              </a:ext>
            </a:extLst>
          </p:cNvPr>
          <p:cNvSpPr/>
          <p:nvPr userDrawn="1"/>
        </p:nvSpPr>
        <p:spPr>
          <a:xfrm>
            <a:off x="7943272" y="-3606"/>
            <a:ext cx="4247572" cy="3048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Programming</a:t>
            </a:r>
            <a:r>
              <a:rPr lang="en-US" b="1" cap="none" spc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Fundamentals using C</a:t>
            </a:r>
            <a:endParaRPr lang="en-US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>
                  <a:lumMod val="5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6222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8059-8CC8-4876-B763-1BEA3FA0F124}" type="datetime1">
              <a:rPr lang="vi-VN" smtClean="0"/>
              <a:t>05/01/2025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Welcome to the World of Internet Learning">
            <a:extLst>
              <a:ext uri="{FF2B5EF4-FFF2-40B4-BE49-F238E27FC236}">
                <a16:creationId xmlns:a16="http://schemas.microsoft.com/office/drawing/2014/main" id="{F30F1745-FEAA-49C5-8EFB-7E8028C354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549" y="0"/>
            <a:ext cx="932141" cy="72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8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3963C-A6AA-4DDF-B85B-BE123D65B285}" type="datetime1">
              <a:rPr lang="vi-VN" smtClean="0"/>
              <a:t>05/01/2025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2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11605-F8CD-44C6-A79B-BEBA9358497C}" type="datetime1">
              <a:rPr lang="vi-VN" smtClean="0"/>
              <a:t>05/01/2025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5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10B-B6B3-4AF4-A9DB-DC0340309754}" type="datetime1">
              <a:rPr lang="vi-VN" smtClean="0"/>
              <a:t>05/01/2025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3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606E5-9CA3-4971-89BF-F965F9043882}" type="datetime1">
              <a:rPr lang="vi-VN" smtClean="0"/>
              <a:t>05/01/2025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4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16FA-E3CF-4C73-A815-C13A824B339A}" type="datetime1">
              <a:rPr lang="vi-VN" smtClean="0"/>
              <a:t>05/01/2025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7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6D87B-52FF-4B7F-A538-F746ED572E26}" type="datetime1">
              <a:rPr lang="vi-VN" smtClean="0"/>
              <a:t>05/01/2025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7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C2434-2AF2-4BF2-BD0B-95CBD5EB0128}" type="datetime1">
              <a:rPr lang="vi-VN" smtClean="0"/>
              <a:t>05/01/2025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4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6082-5D4E-4969-8016-69F376C871AD}" type="datetime1">
              <a:rPr lang="vi-VN" smtClean="0"/>
              <a:t>05/01/2025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9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BA729-DBE2-49EE-91FE-3D8B2D9BF9AB}" type="datetime1">
              <a:rPr lang="vi-VN" smtClean="0"/>
              <a:t>05/01/2025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78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ntro2c.sdds.ca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barcadero.com/free-tools/dev-cp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Embarcadero/Dev-Cpp/releases/download/v6.3/Embarcadero_Dev-Cpp_6.3_TDM-GCC_9.2_Setup.zip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.fpt.edu.v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8"/>
            <a:ext cx="9202270" cy="177436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using C</a:t>
            </a:r>
            <a:endParaRPr lang="en-US" sz="4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39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704497" y="787486"/>
            <a:ext cx="10806720" cy="748017"/>
          </a:xfrm>
        </p:spPr>
        <p:txBody>
          <a:bodyPr>
            <a:normAutofit/>
          </a:bodyPr>
          <a:lstStyle/>
          <a:p>
            <a:r>
              <a:rPr lang="en-US" sz="4000" b="1" dirty="0"/>
              <a:t>Contents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704497" y="1661375"/>
            <a:ext cx="10724763" cy="4819324"/>
          </a:xfrm>
        </p:spPr>
        <p:txBody>
          <a:bodyPr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Why should you study this course?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Prerequisites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Course Objectives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Course Description and Course Plan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Materials/ References/ Tools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Course Rules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Evaluation Strategy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How to study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Academic policy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Install tools for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25C5-B2EF-4E6F-A1DB-F1803A7D3906}" type="datetime1">
              <a:rPr lang="vi-VN" smtClean="0"/>
              <a:t>05/01/2025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55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056" y="754812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Why should you study this course?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43308" y="1574766"/>
            <a:ext cx="10694578" cy="4984654"/>
          </a:xfrm>
        </p:spPr>
        <p:txBody>
          <a:bodyPr>
            <a:normAutofit fontScale="92500" lnSpcReduction="20000"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b="1" dirty="0"/>
              <a:t>Foundation of Programming</a:t>
            </a:r>
            <a:r>
              <a:rPr lang="en-US" dirty="0"/>
              <a:t>: C is often considered the “</a:t>
            </a:r>
            <a:r>
              <a:rPr lang="en-US" b="1" dirty="0"/>
              <a:t>mother</a:t>
            </a:r>
            <a:r>
              <a:rPr lang="en-US" dirty="0"/>
              <a:t>” of modern programming languages. Many languages, like C++, Java, C# and Python, have roots in C, so learning it provides a solid foundation.</a:t>
            </a:r>
            <a:r>
              <a:rPr lang="en-US" b="1" dirty="0"/>
              <a:t> 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b="1" dirty="0"/>
              <a:t>Performance</a:t>
            </a:r>
            <a:r>
              <a:rPr lang="en-US" dirty="0"/>
              <a:t>: C is a low-level language that allows for fine control over system resources and memory management, leading to high-performance applications.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b="1" dirty="0"/>
              <a:t>System-Level Programming</a:t>
            </a:r>
            <a:r>
              <a:rPr lang="en-US" dirty="0"/>
              <a:t>: C is widely used in system programming, including operating systems and embedded systems.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05/01/2025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056" y="754812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Why should you study this course?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26056" y="1695439"/>
            <a:ext cx="10694578" cy="4705361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b="1" dirty="0"/>
              <a:t>Rich Library Support</a:t>
            </a:r>
            <a:r>
              <a:rPr lang="en-US" dirty="0"/>
              <a:t>: C has a vast standard library, providing numerous built-in functions that can simplify development tasks.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b="1" dirty="0"/>
              <a:t>Problem-Solving Skills</a:t>
            </a:r>
            <a:r>
              <a:rPr lang="en-US" dirty="0"/>
              <a:t>: Learning C enhances your problem-solving skills as it often requires a deeper understanding of algorithms and data structures.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b="1" dirty="0"/>
              <a:t>Community and Resources</a:t>
            </a:r>
            <a:r>
              <a:rPr lang="en-US" dirty="0"/>
              <a:t>: C has a long-standing community, offering a wealth of resources, tutorials, and forums to help you learn and fix bug source code.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05/01/2025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8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056" y="628779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Why C is chosen?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26056" y="1254026"/>
            <a:ext cx="10694578" cy="4705361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Top ten common programming languages: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05/01/2025</a:t>
            </a:fld>
            <a:endParaRPr lang="en-US"/>
          </a:p>
        </p:txBody>
      </p:sp>
      <p:pic>
        <p:nvPicPr>
          <p:cNvPr id="2050" name="Picture 2" descr="Global tech trends">
            <a:extLst>
              <a:ext uri="{FF2B5EF4-FFF2-40B4-BE49-F238E27FC236}">
                <a16:creationId xmlns:a16="http://schemas.microsoft.com/office/drawing/2014/main" id="{6A2B0235-7111-4632-BE17-C870EBFD3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147" y="1963252"/>
            <a:ext cx="7372739" cy="4367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E98E753-1F75-4AD4-98AA-E9001A686DCD}"/>
              </a:ext>
            </a:extLst>
          </p:cNvPr>
          <p:cNvSpPr/>
          <p:nvPr/>
        </p:nvSpPr>
        <p:spPr>
          <a:xfrm>
            <a:off x="4114802" y="2649895"/>
            <a:ext cx="438538" cy="35793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26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786444" y="1710542"/>
            <a:ext cx="10515600" cy="1809036"/>
          </a:xfrm>
        </p:spPr>
        <p:txBody>
          <a:bodyPr>
            <a:normAutofit lnSpcReduction="10000"/>
          </a:bodyPr>
          <a:lstStyle/>
          <a:p>
            <a:pPr marL="342900" lvl="1" indent="-342900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800" dirty="0">
                <a:latin typeface="+mj-lt"/>
              </a:rPr>
              <a:t>Requires knowledge such as: </a:t>
            </a:r>
          </a:p>
          <a:p>
            <a:pPr marL="800100" lvl="2" indent="-342900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400" dirty="0">
                <a:latin typeface="+mj-lt"/>
              </a:rPr>
              <a:t>English reading comprehension</a:t>
            </a:r>
          </a:p>
          <a:p>
            <a:pPr marL="800100" lvl="2" indent="-342900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400" dirty="0">
                <a:latin typeface="+mj-lt"/>
              </a:rPr>
              <a:t>Basic logical thinking in mathematics</a:t>
            </a:r>
            <a:endParaRPr lang="en-US" sz="2200" dirty="0">
              <a:latin typeface="+mj-lt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2FD055-3F72-4A7D-BC59-5D54FB9F5CCD}"/>
              </a:ext>
            </a:extLst>
          </p:cNvPr>
          <p:cNvSpPr txBox="1">
            <a:spLocks/>
          </p:cNvSpPr>
          <p:nvPr/>
        </p:nvSpPr>
        <p:spPr>
          <a:xfrm>
            <a:off x="786444" y="751831"/>
            <a:ext cx="10515600" cy="7514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Prerequisites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8F37-A90B-4575-8B59-C0F4DE92E0A0}" type="datetime1">
              <a:rPr lang="vi-VN" smtClean="0"/>
              <a:t>05/01/2025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704497" y="787486"/>
            <a:ext cx="10806720" cy="748017"/>
          </a:xfrm>
        </p:spPr>
        <p:txBody>
          <a:bodyPr>
            <a:normAutofit/>
          </a:bodyPr>
          <a:lstStyle/>
          <a:p>
            <a:r>
              <a:rPr lang="en-US" sz="4000" b="1" dirty="0"/>
              <a:t>Course Objectives 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704497" y="1820001"/>
            <a:ext cx="10724763" cy="466069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Explain the way to solve a real problem using computer.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Understand the basic concepts computer system, and software development.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Understand the basic concepts of programming, focus on procedure programming, testing and debugging, unit testing.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Read and understand the simple C programs.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Solve real problems using C.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Individual and team work behaviors.</a:t>
            </a:r>
            <a:endParaRPr lang="en-US" sz="2600" dirty="0">
              <a:latin typeface="+mj-lt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25C5-B2EF-4E6F-A1DB-F1803A7D3906}" type="datetime1">
              <a:rPr lang="vi-VN" smtClean="0"/>
              <a:t>05/01/2025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708804" y="747130"/>
            <a:ext cx="10515600" cy="796332"/>
          </a:xfrm>
        </p:spPr>
        <p:txBody>
          <a:bodyPr>
            <a:normAutofit/>
          </a:bodyPr>
          <a:lstStyle/>
          <a:p>
            <a:r>
              <a:rPr lang="en-US" sz="4000" b="1" dirty="0"/>
              <a:t>Course Description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760577" y="1583703"/>
            <a:ext cx="10642805" cy="4896995"/>
          </a:xfrm>
        </p:spPr>
        <p:txBody>
          <a:bodyPr>
            <a:normAutofit/>
          </a:bodyPr>
          <a:lstStyle/>
          <a:p>
            <a:pPr marL="514350" indent="-514350" algn="just" eaLnBrk="1" hangingPunct="1">
              <a:buFont typeface="Calibri" pitchFamily="34" charset="0"/>
              <a:buAutoNum type="arabicPeriod"/>
            </a:pPr>
            <a:r>
              <a:rPr lang="en-US" sz="2800" dirty="0"/>
              <a:t>Introduction to PFC</a:t>
            </a:r>
          </a:p>
          <a:p>
            <a:pPr marL="514350" indent="-514350" algn="just" eaLnBrk="1" hangingPunct="1">
              <a:buFont typeface="Calibri" pitchFamily="34" charset="0"/>
              <a:buAutoNum type="arabicPeriod"/>
            </a:pPr>
            <a:r>
              <a:rPr lang="en-US" sz="2800" dirty="0"/>
              <a:t>Basic Computation</a:t>
            </a:r>
          </a:p>
          <a:p>
            <a:pPr marL="514350" indent="-514350" algn="just" eaLnBrk="1" hangingPunct="1">
              <a:buFont typeface="Calibri" pitchFamily="34" charset="0"/>
              <a:buAutoNum type="arabicPeriod"/>
            </a:pPr>
            <a:r>
              <a:rPr lang="en-US" sz="2800" dirty="0"/>
              <a:t>Basic Logic </a:t>
            </a:r>
            <a:r>
              <a:rPr lang="en-US" dirty="0"/>
              <a:t>co</a:t>
            </a:r>
            <a:r>
              <a:rPr lang="en-US" sz="2800" dirty="0"/>
              <a:t>nstructs</a:t>
            </a:r>
          </a:p>
          <a:p>
            <a:pPr marL="514350" indent="-514350" algn="just" eaLnBrk="1" hangingPunct="1">
              <a:buFont typeface="Calibri" pitchFamily="34" charset="0"/>
              <a:buAutoNum type="arabicPeriod"/>
            </a:pPr>
            <a:r>
              <a:rPr lang="en-US" sz="2800" dirty="0"/>
              <a:t>Modules and Functions</a:t>
            </a:r>
          </a:p>
          <a:p>
            <a:pPr marL="514350" indent="-514350" algn="just" eaLnBrk="1" hangingPunct="1">
              <a:buFont typeface="Calibri" pitchFamily="34" charset="0"/>
              <a:buAutoNum type="arabicPeriod"/>
            </a:pPr>
            <a:r>
              <a:rPr lang="en-US" sz="2800" dirty="0"/>
              <a:t>Pointers</a:t>
            </a:r>
          </a:p>
          <a:p>
            <a:pPr marL="514350" indent="-514350" algn="just" eaLnBrk="1" hangingPunct="1">
              <a:buFont typeface="Calibri" pitchFamily="34" charset="0"/>
              <a:buAutoNum type="arabicPeriod"/>
            </a:pPr>
            <a:r>
              <a:rPr lang="en-US" sz="2800" dirty="0"/>
              <a:t>Libraries</a:t>
            </a:r>
          </a:p>
          <a:p>
            <a:pPr marL="514350" indent="-514350" algn="just" eaLnBrk="1" hangingPunct="1">
              <a:buFont typeface="Calibri" pitchFamily="34" charset="0"/>
              <a:buAutoNum type="arabicPeriod"/>
            </a:pPr>
            <a:r>
              <a:rPr lang="en-US" sz="2800" dirty="0"/>
              <a:t>Contiguous Storage</a:t>
            </a:r>
            <a:r>
              <a:rPr lang="en-US" dirty="0"/>
              <a:t> using Arrays and Struct</a:t>
            </a:r>
            <a:endParaRPr lang="en-US" sz="2800" dirty="0"/>
          </a:p>
          <a:p>
            <a:pPr marL="514350" indent="-514350" algn="just" eaLnBrk="1" hangingPunct="1">
              <a:buFont typeface="Calibri" pitchFamily="34" charset="0"/>
              <a:buAutoNum type="arabicPeriod"/>
            </a:pPr>
            <a:r>
              <a:rPr lang="en-US" sz="2800" dirty="0"/>
              <a:t>Strings</a:t>
            </a:r>
          </a:p>
          <a:p>
            <a:pPr marL="514350" indent="-514350" algn="just" eaLnBrk="1" hangingPunct="1">
              <a:buFont typeface="Calibri" pitchFamily="34" charset="0"/>
              <a:buAutoNum type="arabicPeriod"/>
            </a:pPr>
            <a:r>
              <a:rPr lang="en-US" dirty="0"/>
              <a:t>Working to file: Text and Binary files</a:t>
            </a:r>
            <a:r>
              <a:rPr lang="en-US" sz="2800" dirty="0"/>
              <a:t> </a:t>
            </a:r>
            <a:endParaRPr lang="en-US" sz="2600" dirty="0">
              <a:latin typeface="+mj-lt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2229-6176-4484-9BA7-2626152A69B2}" type="datetime1">
              <a:rPr lang="vi-VN" smtClean="0"/>
              <a:t>05/01/2025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682925" y="710350"/>
            <a:ext cx="10515600" cy="859993"/>
          </a:xfrm>
        </p:spPr>
        <p:txBody>
          <a:bodyPr>
            <a:normAutofit/>
          </a:bodyPr>
          <a:lstStyle/>
          <a:p>
            <a:r>
              <a:rPr lang="en-US" sz="4000" b="1" dirty="0"/>
              <a:t>Course Plan</a:t>
            </a: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838200" y="2743704"/>
            <a:ext cx="10515600" cy="859993"/>
          </a:xfrm>
        </p:spPr>
        <p:txBody>
          <a:bodyPr/>
          <a:lstStyle/>
          <a:p>
            <a:pPr algn="ctr" eaLnBrk="1" hangingPunct="1">
              <a:lnSpc>
                <a:spcPct val="125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4000" b="1" dirty="0">
                <a:solidFill>
                  <a:srgbClr val="FF9900"/>
                </a:solidFill>
                <a:latin typeface="+mj-lt"/>
                <a:cs typeface="Times New Roman" pitchFamily="18" charset="0"/>
              </a:rPr>
              <a:t>See course plan on FLM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6F14-D1B8-4E91-9B55-814C132BACE7}" type="datetime1">
              <a:rPr lang="vi-VN" smtClean="0"/>
              <a:t>05/01/2025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640888" y="768989"/>
            <a:ext cx="10515600" cy="833360"/>
          </a:xfrm>
        </p:spPr>
        <p:txBody>
          <a:bodyPr>
            <a:normAutofit/>
          </a:bodyPr>
          <a:lstStyle/>
          <a:p>
            <a:r>
              <a:rPr lang="en-US" sz="4000" b="1" dirty="0"/>
              <a:t>Materials/ References</a:t>
            </a: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xfrm>
            <a:off x="640888" y="1615291"/>
            <a:ext cx="10651431" cy="4865339"/>
          </a:xfrm>
        </p:spPr>
        <p:txBody>
          <a:bodyPr>
            <a:noAutofit/>
          </a:bodyPr>
          <a:lstStyle/>
          <a:p>
            <a:pPr marL="514350" indent="-514350" algn="just" eaLnBrk="1" hangingPunct="1">
              <a:lnSpc>
                <a:spcPct val="110000"/>
              </a:lnSpc>
              <a:spcBef>
                <a:spcPts val="600"/>
              </a:spcBef>
              <a:buFont typeface="Arial" charset="0"/>
              <a:buAutoNum type="arabicParenR"/>
              <a:defRPr/>
            </a:pPr>
            <a:r>
              <a:rPr lang="en-US" sz="2500" b="1" i="0" dirty="0">
                <a:solidFill>
                  <a:srgbClr val="000000"/>
                </a:solidFill>
                <a:effectLst/>
                <a:latin typeface="+mj-lt"/>
              </a:rPr>
              <a:t>Foundations of Programming Using C</a:t>
            </a:r>
            <a:r>
              <a:rPr lang="en-US" sz="2500" b="1" dirty="0">
                <a:latin typeface="+mj-lt"/>
                <a:cs typeface="Times New Roman" pitchFamily="18" charset="0"/>
              </a:rPr>
              <a:t> </a:t>
            </a:r>
            <a:r>
              <a:rPr lang="en-US" sz="2500" dirty="0">
                <a:latin typeface="+mj-lt"/>
                <a:cs typeface="Times New Roman" pitchFamily="18" charset="0"/>
              </a:rPr>
              <a:t>(</a:t>
            </a:r>
            <a:r>
              <a:rPr lang="en-US" sz="25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Hard Copy - FPT University Library)</a:t>
            </a:r>
          </a:p>
          <a:p>
            <a:pPr marL="512763" indent="0" algn="just" eaLnBrk="1" hangingPunct="1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sz="2300" dirty="0">
                <a:solidFill>
                  <a:srgbClr val="000000"/>
                </a:solidFill>
                <a:latin typeface="Arial" panose="020B0604020202020204" pitchFamily="34" charset="0"/>
                <a:cs typeface="Times New Roman" pitchFamily="18" charset="0"/>
              </a:rPr>
              <a:t>Author: Evan Weaver</a:t>
            </a:r>
          </a:p>
          <a:p>
            <a:pPr marL="512763" indent="0" algn="just" eaLnBrk="1" hangingPunct="1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sz="2300" dirty="0">
                <a:solidFill>
                  <a:srgbClr val="000000"/>
                </a:solidFill>
                <a:latin typeface="Arial" panose="020B0604020202020204" pitchFamily="34" charset="0"/>
                <a:cs typeface="Times New Roman" pitchFamily="18" charset="0"/>
              </a:rPr>
              <a:t>Published Date: July, 2006</a:t>
            </a:r>
            <a:endParaRPr lang="en-US" sz="2500" dirty="0">
              <a:latin typeface="+mj-lt"/>
              <a:cs typeface="Times New Roman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sz="2500" b="1" dirty="0">
                <a:latin typeface="+mj-lt"/>
                <a:cs typeface="Times New Roman" pitchFamily="18" charset="0"/>
              </a:rPr>
              <a:t>2) </a:t>
            </a:r>
            <a:r>
              <a:rPr lang="en-US" sz="25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C Programming Language</a:t>
            </a:r>
          </a:p>
          <a:p>
            <a:pPr marL="512763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sz="2300" dirty="0">
                <a:solidFill>
                  <a:srgbClr val="000000"/>
                </a:solidFill>
                <a:latin typeface="Arial" panose="020B0604020202020204" pitchFamily="34" charset="0"/>
                <a:cs typeface="Times New Roman" pitchFamily="18" charset="0"/>
              </a:rPr>
              <a:t>Authors: 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Brian W. Kernighan, Dennis M. Ritchie</a:t>
            </a:r>
          </a:p>
          <a:p>
            <a:pPr marL="512763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sz="2300" dirty="0">
                <a:solidFill>
                  <a:srgbClr val="000000"/>
                </a:solidFill>
                <a:latin typeface="Arial" panose="020B0604020202020204" pitchFamily="34" charset="0"/>
                <a:cs typeface="Times New Roman" pitchFamily="18" charset="0"/>
              </a:rPr>
              <a:t>Published Date: 1988; Edition: 2</a:t>
            </a:r>
            <a:r>
              <a:rPr lang="en-US" sz="2300" baseline="30000" dirty="0">
                <a:solidFill>
                  <a:srgbClr val="000000"/>
                </a:solidFill>
                <a:latin typeface="Arial" panose="020B0604020202020204" pitchFamily="34" charset="0"/>
                <a:cs typeface="Times New Roman" pitchFamily="18" charset="0"/>
              </a:rPr>
              <a:t>nd</a:t>
            </a:r>
            <a:r>
              <a:rPr lang="en-US" sz="2300" dirty="0">
                <a:solidFill>
                  <a:srgbClr val="000000"/>
                </a:solidFill>
                <a:latin typeface="Arial" panose="020B0604020202020204" pitchFamily="34" charset="0"/>
                <a:cs typeface="Times New Roman" pitchFamily="18" charset="0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Arial" panose="020B0604020202020204" pitchFamily="34" charset="0"/>
                <a:cs typeface="Times New Roman" pitchFamily="18" charset="0"/>
              </a:rPr>
              <a:t>Edtitions</a:t>
            </a:r>
            <a:endParaRPr lang="en-US" sz="2500" dirty="0">
              <a:solidFill>
                <a:srgbClr val="000000"/>
              </a:solidFill>
              <a:latin typeface="Arial" panose="020B0604020202020204" pitchFamily="34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sz="2500" b="1" dirty="0">
                <a:latin typeface="+mj-lt"/>
                <a:cs typeface="Times New Roman" pitchFamily="18" charset="0"/>
              </a:rPr>
              <a:t>3) </a:t>
            </a:r>
            <a:r>
              <a:rPr lang="en-US" sz="25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MOOC: Introduction to C Course</a:t>
            </a:r>
          </a:p>
          <a:p>
            <a:pPr marL="457200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sz="2300" dirty="0">
                <a:solidFill>
                  <a:srgbClr val="000000"/>
                </a:solidFill>
                <a:latin typeface="Arial" panose="020B0604020202020204" pitchFamily="34" charset="0"/>
                <a:cs typeface="Times New Roman" pitchFamily="18" charset="0"/>
              </a:rPr>
              <a:t>Link: </a:t>
            </a:r>
            <a:r>
              <a:rPr lang="en-US" sz="2300" dirty="0">
                <a:solidFill>
                  <a:srgbClr val="000000"/>
                </a:solidFill>
                <a:latin typeface="Arial" panose="020B0604020202020204" pitchFamily="34" charset="0"/>
                <a:cs typeface="Times New Roman" pitchFamily="18" charset="0"/>
                <a:hlinkClick r:id="rId3"/>
              </a:rPr>
              <a:t>https://intro2c.sdds.ca/</a:t>
            </a:r>
            <a:endParaRPr lang="en-US" sz="2300" dirty="0">
              <a:solidFill>
                <a:srgbClr val="000000"/>
              </a:solidFill>
              <a:latin typeface="Arial" panose="020B0604020202020204" pitchFamily="34" charset="0"/>
              <a:cs typeface="Times New Roman" pitchFamily="18" charset="0"/>
            </a:endParaRPr>
          </a:p>
          <a:p>
            <a:pPr marL="457200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sz="2300" dirty="0">
                <a:solidFill>
                  <a:srgbClr val="000000"/>
                </a:solidFill>
                <a:latin typeface="Arial" panose="020B0604020202020204" pitchFamily="34" charset="0"/>
                <a:cs typeface="Times New Roman" pitchFamily="18" charset="0"/>
              </a:rPr>
              <a:t>Authors: 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Chris </a:t>
            </a:r>
            <a:r>
              <a:rPr lang="en-US" sz="23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Szalwinsk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Seneca College</a:t>
            </a:r>
            <a:endParaRPr lang="en-US" sz="2300" dirty="0">
              <a:latin typeface="+mj-lt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1C4B-080F-4B30-AF8C-8D3C18E4401C}" type="datetime1">
              <a:rPr lang="vi-VN" smtClean="0"/>
              <a:t>05/01/2025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734683" y="756241"/>
            <a:ext cx="10515600" cy="877749"/>
          </a:xfrm>
        </p:spPr>
        <p:txBody>
          <a:bodyPr>
            <a:normAutofit/>
          </a:bodyPr>
          <a:lstStyle/>
          <a:p>
            <a:r>
              <a:rPr lang="en-US" sz="4000" b="1" dirty="0"/>
              <a:t>Tools</a:t>
            </a: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734683" y="1745045"/>
            <a:ext cx="10583174" cy="4356713"/>
          </a:xfrm>
        </p:spPr>
        <p:txBody>
          <a:bodyPr>
            <a:normAutofit/>
          </a:bodyPr>
          <a:lstStyle/>
          <a:p>
            <a:pPr marL="401638" indent="-401638">
              <a:lnSpc>
                <a:spcPct val="150000"/>
              </a:lnSpc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</a:pPr>
            <a:r>
              <a:rPr lang="en-US" dirty="0"/>
              <a:t>Tool (IDE): </a:t>
            </a:r>
            <a:r>
              <a:rPr lang="en-US" sz="2800" b="1" dirty="0"/>
              <a:t>Dev-C++ version 6.3  (TDM-GCC 9.2)</a:t>
            </a:r>
            <a:endParaRPr lang="en-US" b="1" dirty="0"/>
          </a:p>
          <a:p>
            <a:pPr marL="401638" indent="-401638">
              <a:lnSpc>
                <a:spcPct val="150000"/>
              </a:lnSpc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</a:pPr>
            <a:r>
              <a:rPr lang="en-US" sz="2800" dirty="0"/>
              <a:t>Link download: </a:t>
            </a:r>
            <a:r>
              <a:rPr lang="en-US" sz="2800" dirty="0">
                <a:hlinkClick r:id="rId3"/>
              </a:rPr>
              <a:t>https://www.embarcadero.com/free-tools/dev-cpp</a:t>
            </a:r>
            <a:endParaRPr lang="en-US" sz="2800" dirty="0"/>
          </a:p>
          <a:p>
            <a:pPr marL="401638" indent="-401638">
              <a:lnSpc>
                <a:spcPct val="150000"/>
              </a:lnSpc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</a:pPr>
            <a:r>
              <a:rPr lang="en-US">
                <a:hlinkClick r:id="rId4"/>
              </a:rPr>
              <a:t>https://github.com/Embarcadero/Dev-Cpp/releases/download/v6.3/Embarcadero_Dev-Cpp_6.3_TDM-GCC_9.2_Setup.zip</a:t>
            </a:r>
            <a:endParaRPr lang="en-US"/>
          </a:p>
          <a:p>
            <a:pPr marL="401638" indent="-401638">
              <a:lnSpc>
                <a:spcPct val="150000"/>
              </a:lnSpc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</a:pPr>
            <a:endParaRPr lang="en-US" dirty="0"/>
          </a:p>
          <a:p>
            <a:pPr marL="514350" indent="-514350">
              <a:lnSpc>
                <a:spcPct val="80000"/>
              </a:lnSpc>
              <a:buFont typeface="+mj-lt"/>
              <a:buAutoNum type="arabicParenR" startAt="3"/>
            </a:pPr>
            <a:endParaRPr lang="en-US" sz="26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C9445-7530-4FC4-A2AF-DBC5EF1EB96F}" type="datetime1">
              <a:rPr lang="vi-VN" smtClean="0"/>
              <a:t>05/01/2025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726055" y="782376"/>
            <a:ext cx="10515600" cy="477257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Course Rules</a:t>
            </a:r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726055" y="1397553"/>
            <a:ext cx="11142484" cy="4945225"/>
          </a:xfrm>
        </p:spPr>
        <p:txBody>
          <a:bodyPr>
            <a:normAutofit fontScale="62500" lnSpcReduction="20000"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4000" b="1" dirty="0">
                <a:latin typeface="+mj-lt"/>
                <a:cs typeface="Times New Roman" pitchFamily="18" charset="0"/>
              </a:rPr>
              <a:t>How to conduct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Prepare contents of the next session at home 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Following lessons in classroom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Completing chapter assessments in time and Quizzes (</a:t>
            </a:r>
            <a:r>
              <a:rPr lang="en-US" sz="3200" dirty="0">
                <a:latin typeface="+mj-lt"/>
                <a:cs typeface="Times New Roman" pitchFamily="18" charset="0"/>
                <a:hlinkClick r:id="rId3"/>
              </a:rPr>
              <a:t>https://exam.fpt.edu.vn</a:t>
            </a:r>
            <a:r>
              <a:rPr lang="en-US" sz="3200" dirty="0">
                <a:latin typeface="+mj-lt"/>
                <a:cs typeface="Times New Roman" pitchFamily="18" charset="0"/>
              </a:rPr>
              <a:t>)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b="1" i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Write reports</a:t>
            </a:r>
            <a:r>
              <a:rPr lang="en-US" sz="32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3200" dirty="0">
                <a:latin typeface="+mj-lt"/>
                <a:cs typeface="Times New Roman" pitchFamily="18" charset="0"/>
              </a:rPr>
              <a:t>of all labs and assignments to your notebook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4000" b="1" dirty="0">
                <a:latin typeface="+mj-lt"/>
                <a:cs typeface="Times New Roman" pitchFamily="18" charset="0"/>
              </a:rPr>
              <a:t>Communication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Class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Interchange by CMS, </a:t>
            </a:r>
            <a:r>
              <a:rPr lang="en-US" sz="3200" dirty="0" err="1">
                <a:latin typeface="+mj-lt"/>
                <a:cs typeface="Times New Roman" pitchFamily="18" charset="0"/>
              </a:rPr>
              <a:t>EduNext</a:t>
            </a:r>
            <a:endParaRPr lang="en-US" sz="3200" dirty="0">
              <a:latin typeface="+mj-lt"/>
              <a:cs typeface="Times New Roman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Discussing actively in your team and classroom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Free to question and answer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4000" b="1" dirty="0">
                <a:latin typeface="+mj-lt"/>
                <a:cs typeface="Times New Roman" pitchFamily="18" charset="0"/>
              </a:rPr>
              <a:t>Others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Off phone, no game, no chat in class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Use laptop under teacher’s instruction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CB313-35E1-4FDC-A14F-8C7B2ECA302E}" type="datetime1">
              <a:rPr lang="vi-VN" smtClean="0"/>
              <a:t>05/01/2025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769190" y="749804"/>
            <a:ext cx="10515600" cy="611418"/>
          </a:xfrm>
        </p:spPr>
        <p:txBody>
          <a:bodyPr>
            <a:noAutofit/>
          </a:bodyPr>
          <a:lstStyle/>
          <a:p>
            <a:r>
              <a:rPr lang="en-US" sz="4000" b="1" dirty="0"/>
              <a:t>Evaluation Strategy </a:t>
            </a: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769190" y="1315237"/>
            <a:ext cx="10755702" cy="5060062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100" b="1" dirty="0">
                <a:latin typeface="+mj-lt"/>
                <a:cs typeface="Times New Roman" pitchFamily="18" charset="0"/>
              </a:rPr>
              <a:t>Must attend more than 80% of contact hours (if not, not allow to take exam)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100" b="1" dirty="0">
                <a:latin typeface="+mj-lt"/>
                <a:cs typeface="Times New Roman" pitchFamily="18" charset="0"/>
              </a:rPr>
              <a:t>Evaluating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100" dirty="0"/>
              <a:t>Maximum score: 10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100" dirty="0"/>
              <a:t>On-going assessments:</a:t>
            </a:r>
            <a:endParaRPr lang="en-US" sz="2100" dirty="0">
              <a:latin typeface="+mj-lt"/>
              <a:cs typeface="Times New Roman" pitchFamily="18" charset="0"/>
            </a:endParaRPr>
          </a:p>
          <a:p>
            <a:pPr lvl="2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  <a:cs typeface="Times New Roman" pitchFamily="18" charset="0"/>
              </a:rPr>
              <a:t>02 Progress Test (PT, 15%)</a:t>
            </a:r>
          </a:p>
          <a:p>
            <a:pPr lvl="2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  <a:cs typeface="Times New Roman" pitchFamily="18" charset="0"/>
              </a:rPr>
              <a:t>05 Workshops (WS, 10%)</a:t>
            </a:r>
          </a:p>
          <a:p>
            <a:pPr lvl="2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  <a:cs typeface="Times New Roman" pitchFamily="18" charset="0"/>
              </a:rPr>
              <a:t>01 Assignment (AS, 15%)     </a:t>
            </a:r>
          </a:p>
          <a:p>
            <a:pPr lvl="2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  <a:cs typeface="Times New Roman" pitchFamily="18" charset="0"/>
              </a:rPr>
              <a:t>01 Practical Exam (PE, 30%)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latin typeface="+mj-lt"/>
                <a:cs typeface="Times New Roman" pitchFamily="18" charset="0"/>
              </a:rPr>
              <a:t>Final Exam (FE, 30%)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latin typeface="+mj-lt"/>
                <a:cs typeface="Times New Roman" pitchFamily="18" charset="0"/>
              </a:rPr>
              <a:t>Total score=0.15*PT + 0.1*WS + 0.15*AS + 0.3*PE + 0.3*FE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100" b="1" dirty="0">
                <a:latin typeface="+mj-lt"/>
                <a:cs typeface="Times New Roman" pitchFamily="18" charset="0"/>
              </a:rPr>
              <a:t>Pass: 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Every on-going assessments component &gt;0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Final Exam Score &gt;=4 and  Final Result  &gt;=5 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100" b="1" dirty="0">
                <a:latin typeface="+mj-lt"/>
                <a:cs typeface="Times New Roman" pitchFamily="18" charset="0"/>
              </a:rPr>
              <a:t>Final Exam retake only when not passed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6FB9-B064-4103-8E70-18B9FA4E7E15}" type="datetime1">
              <a:rPr lang="vi-VN" smtClean="0"/>
              <a:t>05/01/2025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622541" y="876515"/>
            <a:ext cx="10515600" cy="477118"/>
          </a:xfrm>
        </p:spPr>
        <p:txBody>
          <a:bodyPr>
            <a:noAutofit/>
          </a:bodyPr>
          <a:lstStyle/>
          <a:p>
            <a:r>
              <a:rPr lang="en-US" sz="4000" b="1" dirty="0"/>
              <a:t>How to study</a:t>
            </a: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605289" y="1485189"/>
            <a:ext cx="11092131" cy="4829451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500" dirty="0">
                <a:latin typeface="+mj-lt"/>
                <a:cs typeface="Times New Roman" pitchFamily="18" charset="0"/>
              </a:rPr>
              <a:t>This course is complex knowledge (however, it’s attractive and exciting), so you need to keep a tight grip on it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100" b="1" dirty="0">
                <a:latin typeface="+mj-lt"/>
                <a:cs typeface="Times New Roman" pitchFamily="18" charset="0"/>
              </a:rPr>
              <a:t>Read</a:t>
            </a:r>
          </a:p>
          <a:p>
            <a:pPr lvl="2" algn="just">
              <a:lnSpc>
                <a:spcPct val="120000"/>
              </a:lnSpc>
              <a:spcBef>
                <a:spcPts val="3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On the books to get the general concept</a:t>
            </a:r>
          </a:p>
          <a:p>
            <a:pPr lvl="2" algn="just">
              <a:lnSpc>
                <a:spcPct val="120000"/>
              </a:lnSpc>
              <a:spcBef>
                <a:spcPts val="3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Reference, study, collection from anywhere else (internet, your classmate, forum …)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100" b="1" dirty="0">
                <a:latin typeface="+mj-lt"/>
                <a:cs typeface="Times New Roman" pitchFamily="18" charset="0"/>
              </a:rPr>
              <a:t>Attend lectures</a:t>
            </a:r>
          </a:p>
          <a:p>
            <a:pPr lvl="2" algn="just">
              <a:lnSpc>
                <a:spcPct val="120000"/>
              </a:lnSpc>
              <a:spcBef>
                <a:spcPts val="3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Listen, understand, then make your notes</a:t>
            </a:r>
          </a:p>
          <a:p>
            <a:pPr lvl="2" algn="just">
              <a:lnSpc>
                <a:spcPct val="120000"/>
              </a:lnSpc>
              <a:spcBef>
                <a:spcPts val="3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Give your explanation about some topic in lectures</a:t>
            </a:r>
          </a:p>
          <a:p>
            <a:pPr lvl="2" algn="just">
              <a:lnSpc>
                <a:spcPct val="120000"/>
              </a:lnSpc>
              <a:spcBef>
                <a:spcPts val="3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Ask questions</a:t>
            </a:r>
          </a:p>
          <a:p>
            <a:pPr lvl="2" algn="just">
              <a:lnSpc>
                <a:spcPct val="120000"/>
              </a:lnSpc>
              <a:spcBef>
                <a:spcPts val="3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Give some examples that do not exist in your book</a:t>
            </a:r>
          </a:p>
          <a:p>
            <a:pPr lvl="2" algn="just">
              <a:lnSpc>
                <a:spcPct val="120000"/>
              </a:lnSpc>
              <a:spcBef>
                <a:spcPts val="3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Practice all the exercises, demo to make your sense 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100" b="1" dirty="0">
                <a:latin typeface="+mj-lt"/>
                <a:cs typeface="Times New Roman" pitchFamily="18" charset="0"/>
              </a:rPr>
              <a:t>After classes</a:t>
            </a:r>
          </a:p>
          <a:p>
            <a:pPr lvl="2" algn="just">
              <a:lnSpc>
                <a:spcPct val="120000"/>
              </a:lnSpc>
              <a:spcBef>
                <a:spcPts val="300"/>
              </a:spcBef>
              <a:tabLst>
                <a:tab pos="1371600" algn="l"/>
              </a:tabLst>
            </a:pPr>
            <a:r>
              <a:rPr lang="en-US" dirty="0">
                <a:latin typeface="+mj-lt"/>
                <a:cs typeface="Times New Roman" pitchFamily="18" charset="0"/>
              </a:rPr>
              <a:t>Discuss your classmate indirectly, on the forum</a:t>
            </a:r>
          </a:p>
          <a:p>
            <a:pPr lvl="2" algn="just">
              <a:lnSpc>
                <a:spcPct val="120000"/>
              </a:lnSpc>
              <a:spcBef>
                <a:spcPts val="300"/>
              </a:spcBef>
              <a:tabLst>
                <a:tab pos="1371600" algn="l"/>
              </a:tabLst>
            </a:pPr>
            <a:r>
              <a:rPr lang="en-US" dirty="0">
                <a:latin typeface="+mj-lt"/>
                <a:cs typeface="Times New Roman" pitchFamily="18" charset="0"/>
              </a:rPr>
              <a:t>Analyze, design, and implement workshops and assignments. </a:t>
            </a:r>
            <a:r>
              <a:rPr lang="en-US" b="1" dirty="0">
                <a:latin typeface="+mj-lt"/>
                <a:cs typeface="Times New Roman" pitchFamily="18" charset="0"/>
              </a:rPr>
              <a:t>Write reports </a:t>
            </a:r>
            <a:r>
              <a:rPr lang="en-US" dirty="0">
                <a:latin typeface="+mj-lt"/>
                <a:cs typeface="Times New Roman" pitchFamily="18" charset="0"/>
              </a:rPr>
              <a:t>in your notebook</a:t>
            </a:r>
          </a:p>
          <a:p>
            <a:pPr lvl="2" algn="just">
              <a:lnSpc>
                <a:spcPct val="120000"/>
              </a:lnSpc>
              <a:spcBef>
                <a:spcPts val="300"/>
              </a:spcBef>
              <a:tabLst>
                <a:tab pos="1371600" algn="l"/>
              </a:tabLst>
            </a:pPr>
            <a:r>
              <a:rPr lang="en-US" dirty="0">
                <a:latin typeface="+mj-lt"/>
                <a:cs typeface="Times New Roman" pitchFamily="18" charset="0"/>
              </a:rPr>
              <a:t>Build your team in yourselves to support together in studying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652C-E61D-49B9-9CB8-B64C03F84258}" type="datetime1">
              <a:rPr lang="vi-VN" smtClean="0"/>
              <a:t>05/01/2025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631166" y="834899"/>
            <a:ext cx="10515600" cy="530002"/>
          </a:xfrm>
        </p:spPr>
        <p:txBody>
          <a:bodyPr>
            <a:noAutofit/>
          </a:bodyPr>
          <a:lstStyle/>
          <a:p>
            <a:r>
              <a:rPr lang="en-US" sz="4000" b="1" dirty="0"/>
              <a:t>Academic policy</a:t>
            </a: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570781" y="1593204"/>
            <a:ext cx="11126638" cy="4887495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3400" dirty="0">
                <a:latin typeface="+mj-lt"/>
                <a:cs typeface="Times New Roman" pitchFamily="18" charset="0"/>
              </a:rPr>
              <a:t>Cheating, plagiarism and breach of copyright are serious offenses under this Policy.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973735"/>
              </a:buClr>
              <a:buSzPct val="50000"/>
              <a:buNone/>
              <a:defRPr/>
            </a:pPr>
            <a:endParaRPr lang="en-US" sz="400" dirty="0">
              <a:latin typeface="+mj-lt"/>
              <a:cs typeface="Times New Roman" pitchFamily="18" charset="0"/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000" b="1" dirty="0">
                <a:latin typeface="+mj-lt"/>
                <a:cs typeface="Times New Roman" pitchFamily="18" charset="0"/>
              </a:rPr>
              <a:t>Cheating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US" sz="3000" dirty="0">
                <a:latin typeface="+mj-lt"/>
                <a:cs typeface="Times New Roman" pitchFamily="18" charset="0"/>
              </a:rPr>
              <a:t>Cheating during a test or exam is construed as talking, peeking at another student’s paper or any other clandestine method of transmitting information.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000" b="1" dirty="0">
                <a:latin typeface="+mj-lt"/>
                <a:cs typeface="Times New Roman" pitchFamily="18" charset="0"/>
              </a:rPr>
              <a:t>Plagiarism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US" sz="3000" dirty="0">
                <a:latin typeface="+mj-lt"/>
                <a:cs typeface="Times New Roman" pitchFamily="18" charset="0"/>
              </a:rPr>
              <a:t>Plagiarism is using the work of others without citing it; that is, holding the work of others out as your own work.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000" b="1" dirty="0">
                <a:latin typeface="+mj-lt"/>
                <a:cs typeface="Times New Roman" pitchFamily="18" charset="0"/>
              </a:rPr>
              <a:t>Breach of Copyright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US" sz="3000" dirty="0">
                <a:latin typeface="+mj-lt"/>
                <a:cs typeface="Times New Roman" pitchFamily="18" charset="0"/>
              </a:rPr>
              <a:t>If you photocopy a textbook without the copyright holder's permission, you violate copyright law.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C896-7ECF-48BC-98EE-66A4C806647D}" type="datetime1">
              <a:rPr lang="vi-VN" smtClean="0"/>
              <a:t>05/01/2025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665672" y="861859"/>
            <a:ext cx="10515600" cy="602540"/>
          </a:xfrm>
        </p:spPr>
        <p:txBody>
          <a:bodyPr>
            <a:noAutofit/>
          </a:bodyPr>
          <a:lstStyle/>
          <a:p>
            <a:r>
              <a:rPr lang="en-US" sz="4000" b="1" dirty="0"/>
              <a:t>Enjoy the Course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665672" y="1718149"/>
            <a:ext cx="10763588" cy="4141476"/>
          </a:xfrm>
        </p:spPr>
        <p:txBody>
          <a:bodyPr>
            <a:normAutofit lnSpcReduction="10000"/>
          </a:bodyPr>
          <a:lstStyle/>
          <a:p>
            <a:pPr marL="342900" indent="-342900" algn="just">
              <a:lnSpc>
                <a:spcPct val="160000"/>
              </a:lnSpc>
              <a:spcBef>
                <a:spcPts val="600"/>
              </a:spcBef>
              <a:spcAft>
                <a:spcPts val="3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>
                <a:latin typeface="+mj-lt"/>
                <a:cs typeface="Times New Roman" pitchFamily="18" charset="0"/>
              </a:rPr>
              <a:t>Be enthusiastic about the material because it is interesting, useful and an important part of your training as a software engineer.</a:t>
            </a:r>
          </a:p>
          <a:p>
            <a:pPr marL="342900" indent="-342900" algn="just">
              <a:lnSpc>
                <a:spcPct val="160000"/>
              </a:lnSpc>
              <a:spcBef>
                <a:spcPts val="600"/>
              </a:spcBef>
              <a:spcAft>
                <a:spcPts val="3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>
                <a:latin typeface="+mj-lt"/>
                <a:cs typeface="Times New Roman" pitchFamily="18" charset="0"/>
              </a:rPr>
              <a:t>Our job is to help you learn and enjoy the experience.</a:t>
            </a:r>
          </a:p>
          <a:p>
            <a:pPr marL="342900" indent="-342900" algn="just">
              <a:lnSpc>
                <a:spcPct val="160000"/>
              </a:lnSpc>
              <a:spcBef>
                <a:spcPts val="600"/>
              </a:spcBef>
              <a:spcAft>
                <a:spcPts val="3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>
                <a:latin typeface="+mj-lt"/>
                <a:cs typeface="Times New Roman" pitchFamily="18" charset="0"/>
              </a:rPr>
              <a:t>We will do our best but we need your help. </a:t>
            </a:r>
          </a:p>
          <a:p>
            <a:pPr marL="342900" indent="-342900" algn="just">
              <a:lnSpc>
                <a:spcPct val="160000"/>
              </a:lnSpc>
              <a:spcBef>
                <a:spcPts val="600"/>
              </a:spcBef>
              <a:spcAft>
                <a:spcPts val="3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>
                <a:latin typeface="+mj-lt"/>
                <a:cs typeface="Times New Roman" pitchFamily="18" charset="0"/>
              </a:rPr>
              <a:t>So let’s all have fun together with Programming Fundamentals using C language 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6D79-5DB1-4D1F-B959-D799C5FB2ACC}" type="datetime1">
              <a:rPr lang="vi-VN" smtClean="0"/>
              <a:t>05/01/2025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673080" y="886356"/>
            <a:ext cx="9739883" cy="685800"/>
          </a:xfrm>
        </p:spPr>
        <p:txBody>
          <a:bodyPr>
            <a:noAutofit/>
          </a:bodyPr>
          <a:lstStyle/>
          <a:p>
            <a:r>
              <a:rPr lang="en-US" sz="4000" b="1" dirty="0"/>
              <a:t>Install tools for programming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488463" y="2810145"/>
            <a:ext cx="66294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Q&amp;A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A337-D721-489A-94FD-8946F3A21BBF}" type="datetime1">
              <a:rPr lang="vi-VN" smtClean="0"/>
              <a:t>05/01/2025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976</Words>
  <Application>Microsoft Office PowerPoint</Application>
  <PresentationFormat>Widescreen</PresentationFormat>
  <Paragraphs>152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Tahoma</vt:lpstr>
      <vt:lpstr>Times New Roman</vt:lpstr>
      <vt:lpstr>Wingdings</vt:lpstr>
      <vt:lpstr>Office Theme</vt:lpstr>
      <vt:lpstr>Programming Fundamentals using C</vt:lpstr>
      <vt:lpstr>Contents</vt:lpstr>
      <vt:lpstr>Why should you study this course?</vt:lpstr>
      <vt:lpstr>Why should you study this course?</vt:lpstr>
      <vt:lpstr>Why C is chosen?</vt:lpstr>
      <vt:lpstr>PowerPoint Presentation</vt:lpstr>
      <vt:lpstr>Course Objectives </vt:lpstr>
      <vt:lpstr>Course Description</vt:lpstr>
      <vt:lpstr>Course Plan</vt:lpstr>
      <vt:lpstr>Materials/ References</vt:lpstr>
      <vt:lpstr>Tools</vt:lpstr>
      <vt:lpstr>Course Rules</vt:lpstr>
      <vt:lpstr>Evaluation Strategy </vt:lpstr>
      <vt:lpstr>How to study</vt:lpstr>
      <vt:lpstr>Academic policy</vt:lpstr>
      <vt:lpstr>Enjoy the Course</vt:lpstr>
      <vt:lpstr>Install tools for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Huy Vu Van</cp:lastModifiedBy>
  <cp:revision>121</cp:revision>
  <dcterms:created xsi:type="dcterms:W3CDTF">2021-01-25T08:25:31Z</dcterms:created>
  <dcterms:modified xsi:type="dcterms:W3CDTF">2025-01-05T10:15:15Z</dcterms:modified>
</cp:coreProperties>
</file>